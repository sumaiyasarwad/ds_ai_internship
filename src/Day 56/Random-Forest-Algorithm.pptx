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3" r:id="rId4"/>
    <p:sldId id="259" r:id="rId5"/>
    <p:sldId id="264" r:id="rId6"/>
    <p:sldId id="261" r:id="rId7"/>
  </p:sldIdLst>
  <p:sldSz cx="14630400" cy="8229600"/>
  <p:notesSz cx="8229600" cy="14630400"/>
  <p:embeddedFontLst>
    <p:embeddedFont>
      <p:font typeface="Arimo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9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61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731" y="3279648"/>
            <a:ext cx="7468553" cy="3755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Random Forest 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AF32A7-6CBD-9B42-2132-BE21AADFC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307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DBC786-0E77-EE76-7D65-8B7027FE6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809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061" y="1330166"/>
            <a:ext cx="5765006" cy="40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Why Random Forest Is Powerful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485061" y="1858089"/>
            <a:ext cx="8173879" cy="1200150"/>
          </a:xfrm>
          <a:prstGeom prst="roundRect">
            <a:avLst>
              <a:gd name="adj" fmla="val 1733"/>
            </a:avLst>
          </a:prstGeom>
          <a:solidFill>
            <a:srgbClr val="2B2952"/>
          </a:solidFill>
          <a:ln/>
        </p:spPr>
      </p:sp>
      <p:sp>
        <p:nvSpPr>
          <p:cNvPr id="5" name="Shape 2"/>
          <p:cNvSpPr/>
          <p:nvPr/>
        </p:nvSpPr>
        <p:spPr>
          <a:xfrm>
            <a:off x="623649" y="1996678"/>
            <a:ext cx="415766" cy="415766"/>
          </a:xfrm>
          <a:prstGeom prst="roundRect">
            <a:avLst>
              <a:gd name="adj" fmla="val 21990941"/>
            </a:avLst>
          </a:prstGeom>
          <a:solidFill>
            <a:srgbClr val="8061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949" y="2110978"/>
            <a:ext cx="187047" cy="187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3649" y="2492693"/>
            <a:ext cx="1721167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Ensemble Learning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23649" y="2744629"/>
            <a:ext cx="789670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Combines many weak learners into one strong, reliable model.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85061" y="3138488"/>
            <a:ext cx="8173879" cy="1200150"/>
          </a:xfrm>
          <a:prstGeom prst="roundRect">
            <a:avLst>
              <a:gd name="adj" fmla="val 1733"/>
            </a:avLst>
          </a:prstGeom>
          <a:solidFill>
            <a:srgbClr val="2B2952"/>
          </a:solidFill>
          <a:ln/>
        </p:spPr>
      </p:sp>
      <p:sp>
        <p:nvSpPr>
          <p:cNvPr id="10" name="Shape 6"/>
          <p:cNvSpPr/>
          <p:nvPr/>
        </p:nvSpPr>
        <p:spPr>
          <a:xfrm>
            <a:off x="623649" y="3277076"/>
            <a:ext cx="415766" cy="415766"/>
          </a:xfrm>
          <a:prstGeom prst="roundRect">
            <a:avLst>
              <a:gd name="adj" fmla="val 21990941"/>
            </a:avLst>
          </a:prstGeom>
          <a:solidFill>
            <a:srgbClr val="8061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949" y="3391376"/>
            <a:ext cx="187047" cy="18704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3649" y="3773091"/>
            <a:ext cx="1781889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Reduces Overfitting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23649" y="4025027"/>
            <a:ext cx="789670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Multiple trees on random samples prevent memorization of training data.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85061" y="4418886"/>
            <a:ext cx="8173879" cy="1200150"/>
          </a:xfrm>
          <a:prstGeom prst="roundRect">
            <a:avLst>
              <a:gd name="adj" fmla="val 1733"/>
            </a:avLst>
          </a:prstGeom>
          <a:solidFill>
            <a:srgbClr val="2B2952"/>
          </a:solidFill>
          <a:ln/>
        </p:spPr>
      </p:sp>
      <p:sp>
        <p:nvSpPr>
          <p:cNvPr id="15" name="Shape 10"/>
          <p:cNvSpPr/>
          <p:nvPr/>
        </p:nvSpPr>
        <p:spPr>
          <a:xfrm>
            <a:off x="623649" y="4557474"/>
            <a:ext cx="415766" cy="415766"/>
          </a:xfrm>
          <a:prstGeom prst="roundRect">
            <a:avLst>
              <a:gd name="adj" fmla="val 21990941"/>
            </a:avLst>
          </a:prstGeom>
          <a:solidFill>
            <a:srgbClr val="8061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949" y="4671774"/>
            <a:ext cx="187047" cy="1870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3649" y="5053489"/>
            <a:ext cx="2090618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Handles Complex Data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23649" y="5305425"/>
            <a:ext cx="789670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Scales well with large datasets, high dimensionality, and mixed feature types.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85061" y="5699284"/>
            <a:ext cx="8173879" cy="1200150"/>
          </a:xfrm>
          <a:prstGeom prst="roundRect">
            <a:avLst>
              <a:gd name="adj" fmla="val 1733"/>
            </a:avLst>
          </a:prstGeom>
          <a:solidFill>
            <a:srgbClr val="2B2952"/>
          </a:solidFill>
          <a:ln/>
        </p:spPr>
      </p:sp>
      <p:sp>
        <p:nvSpPr>
          <p:cNvPr id="20" name="Shape 14"/>
          <p:cNvSpPr/>
          <p:nvPr/>
        </p:nvSpPr>
        <p:spPr>
          <a:xfrm>
            <a:off x="623649" y="5837873"/>
            <a:ext cx="415766" cy="415766"/>
          </a:xfrm>
          <a:prstGeom prst="roundRect">
            <a:avLst>
              <a:gd name="adj" fmla="val 21990941"/>
            </a:avLst>
          </a:prstGeom>
          <a:solidFill>
            <a:srgbClr val="8061FF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7949" y="5952172"/>
            <a:ext cx="187047" cy="18704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3649" y="6333887"/>
            <a:ext cx="1630799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Robust to Noise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623649" y="6585823"/>
            <a:ext cx="789670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Tolerates missing values and outliers without significant performance loss.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5D3ED3-12A2-4995-914D-F71AC6406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959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960" y="1340763"/>
            <a:ext cx="4268748" cy="533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Takeaways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634960" y="2080498"/>
            <a:ext cx="408146" cy="408146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5" name="Text 2"/>
          <p:cNvSpPr/>
          <p:nvPr/>
        </p:nvSpPr>
        <p:spPr>
          <a:xfrm>
            <a:off x="710982" y="2124492"/>
            <a:ext cx="256103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80505" y="2142768"/>
            <a:ext cx="2410778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Ensemble = Strength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80505" y="2491978"/>
            <a:ext cx="732853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Combining many decision trees outperforms any single tree in accuracy and stability.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4960" y="3022044"/>
            <a:ext cx="408146" cy="408146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9" name="Text 6"/>
          <p:cNvSpPr/>
          <p:nvPr/>
        </p:nvSpPr>
        <p:spPr>
          <a:xfrm>
            <a:off x="710982" y="3066038"/>
            <a:ext cx="256103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80505" y="3084314"/>
            <a:ext cx="2382441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Built-In Error Control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180505" y="3433524"/>
            <a:ext cx="732853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Bootstrap sampling and random feature selection naturally reduce overfitting.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4960" y="3963591"/>
            <a:ext cx="408146" cy="408146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13" name="Text 10"/>
          <p:cNvSpPr/>
          <p:nvPr/>
        </p:nvSpPr>
        <p:spPr>
          <a:xfrm>
            <a:off x="710982" y="4007584"/>
            <a:ext cx="256103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180505" y="4025860"/>
            <a:ext cx="2339102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Versatile &amp; Practical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180505" y="4375071"/>
            <a:ext cx="7328535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From healthcare to finance, Random Forest solves real-world problems at scale.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4960" y="4905137"/>
            <a:ext cx="408146" cy="408146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17" name="Text 14"/>
          <p:cNvSpPr/>
          <p:nvPr/>
        </p:nvSpPr>
        <p:spPr>
          <a:xfrm>
            <a:off x="710982" y="4949130"/>
            <a:ext cx="256103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180505" y="4967407"/>
            <a:ext cx="3647480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 Foundation for Advanced ML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180505" y="5316617"/>
            <a:ext cx="7328535" cy="510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Understanding Random Forest opens the door to Gradient Boosting, XGBoost, and modern ensemble methods.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34960" y="5981581"/>
            <a:ext cx="7874079" cy="907256"/>
          </a:xfrm>
          <a:prstGeom prst="roundRect">
            <a:avLst>
              <a:gd name="adj" fmla="val 3000"/>
            </a:avLst>
          </a:prstGeom>
          <a:solidFill>
            <a:srgbClr val="0F004D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93" y="6239947"/>
            <a:ext cx="226695" cy="1813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24320" y="6164223"/>
            <a:ext cx="7103388" cy="510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Remember:</a:t>
            </a:r>
            <a:r>
              <a:rPr lang="en-US" sz="14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Random Forest is not just an algorithm — it's a mindset. Diversity in models leads to smarter decisions.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161</Words>
  <Application>Microsoft Office PowerPoint</Application>
  <PresentationFormat>Custom</PresentationFormat>
  <Paragraphs>27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Arimo</vt:lpstr>
      <vt:lpstr>Arial</vt:lpstr>
      <vt:lpstr>Syne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Hemanth kumar S</dc:creator>
  <cp:lastModifiedBy>Hemanth kumar S</cp:lastModifiedBy>
  <cp:revision>2</cp:revision>
  <dcterms:created xsi:type="dcterms:W3CDTF">2026-04-08T08:44:53Z</dcterms:created>
  <dcterms:modified xsi:type="dcterms:W3CDTF">2026-04-08T10:02:34Z</dcterms:modified>
</cp:coreProperties>
</file>