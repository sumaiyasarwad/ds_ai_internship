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4" r:id="rId8"/>
    <p:sldId id="268" r:id="rId9"/>
    <p:sldId id="270" r:id="rId10"/>
    <p:sldId id="265" r:id="rId11"/>
    <p:sldId id="266" r:id="rId12"/>
    <p:sldId id="267" r:id="rId13"/>
  </p:sldIdLst>
  <p:sldSz cx="9144000" cy="5143500" type="screen16x9"/>
  <p:notesSz cx="6858000" cy="9144000"/>
  <p:embeddedFontLst>
    <p:embeddedFont>
      <p:font typeface="Helvetica Neue" panose="020B0604020202020204" charset="0"/>
      <p:regular r:id="rId15"/>
      <p:bold r:id="rId16"/>
      <p:italic r:id="rId17"/>
      <p:boldItalic r:id="rId18"/>
    </p:embeddedFont>
    <p:embeddedFont>
      <p:font typeface="Helvetica Neue Light"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gYWJBtbwI2f3eR+P45eHJopK7O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FC005C-FD27-49F0-92FA-018B924EA1BE}" v="7" dt="2026-03-30T09:41:12.038"/>
  </p1510:revLst>
</p1510:revInfo>
</file>

<file path=ppt/tableStyles.xml><?xml version="1.0" encoding="utf-8"?>
<a:tblStyleLst xmlns:a="http://schemas.openxmlformats.org/drawingml/2006/main" def="{F243F2E9-EE5A-4B70-8657-BDC805B4E44C}">
  <a:tblStyle styleId="{F243F2E9-EE5A-4B70-8657-BDC805B4E44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1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a841a0f086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g3a841a0f086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bb61f4e99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g3bb61f4e995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a9938ca1d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g3a9938ca1d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a841a0f086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3a841a0f086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a928b83b57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3a928b83b57_0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bb61f4e995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bb61f4e995_0_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bb61f4e995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3bb61f4e995_0_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b61f4e995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g3bb61f4e995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bb61f4e995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3bb61f4e995_0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2 1 1">
  <p:cSld name="CUSTOM_2_1_1">
    <p:spTree>
      <p:nvGrpSpPr>
        <p:cNvPr id="1" name="Shape 9"/>
        <p:cNvGrpSpPr/>
        <p:nvPr/>
      </p:nvGrpSpPr>
      <p:grpSpPr>
        <a:xfrm>
          <a:off x="0" y="0"/>
          <a:ext cx="0" cy="0"/>
          <a:chOff x="0" y="0"/>
          <a:chExt cx="0" cy="0"/>
        </a:xfrm>
      </p:grpSpPr>
      <p:sp>
        <p:nvSpPr>
          <p:cNvPr id="10" name="Google Shape;10;p27"/>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rmAutofit/>
          </a:bodyPr>
          <a:lstStyle>
            <a:lvl1pPr marL="0" marR="0" lvl="0"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4" name="Google Shape;14;p28"/>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7" name="Google Shape;17;p2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29"/>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30"/>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3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3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31"/>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32"/>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3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33"/>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34"/>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3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3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35"/>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36"/>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37"/>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8"/>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6"/>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r>
              <a:rPr lang="en-GB"/>
              <a:t>SUMMER INTERNSHIP |  </a:t>
            </a: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slide" Target="slide10.xml"/></Relationships>
</file>

<file path=ppt/slides/_rels/slide8.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
          <p:cNvSpPr txBox="1"/>
          <p:nvPr/>
        </p:nvSpPr>
        <p:spPr>
          <a:xfrm>
            <a:off x="760100" y="1558413"/>
            <a:ext cx="8071666" cy="615523"/>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2800" b="1" dirty="0">
                <a:solidFill>
                  <a:srgbClr val="294C6F"/>
                </a:solidFill>
                <a:latin typeface="Helvetica Neue"/>
                <a:ea typeface="Helvetica Neue"/>
                <a:cs typeface="Helvetica Neue"/>
                <a:sym typeface="Helvetica Neue"/>
              </a:rPr>
              <a:t>Loan Default Prediction using Machine Learning</a:t>
            </a:r>
            <a:endParaRPr sz="2800" b="1" i="0" u="none" strike="noStrike" cap="none" dirty="0">
              <a:solidFill>
                <a:srgbClr val="294C6F"/>
              </a:solidFill>
              <a:latin typeface="Helvetica Neue"/>
              <a:ea typeface="Helvetica Neue"/>
              <a:cs typeface="Helvetica Neue"/>
              <a:sym typeface="Helvetica Neue"/>
            </a:endParaRPr>
          </a:p>
        </p:txBody>
      </p:sp>
      <p:sp>
        <p:nvSpPr>
          <p:cNvPr id="57" name="Google Shape;57;p1"/>
          <p:cNvSpPr txBox="1">
            <a:spLocks noGrp="1"/>
          </p:cNvSpPr>
          <p:nvPr>
            <p:ph type="subTitle" idx="4294967295"/>
          </p:nvPr>
        </p:nvSpPr>
        <p:spPr>
          <a:xfrm>
            <a:off x="760200" y="2022088"/>
            <a:ext cx="7737029" cy="2454893"/>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dk2"/>
              </a:buClr>
              <a:buSzPts val="1800"/>
              <a:buFont typeface="Arial"/>
              <a:buNone/>
            </a:pPr>
            <a:r>
              <a:rPr lang="en-GB" sz="1600" b="1" dirty="0">
                <a:solidFill>
                  <a:srgbClr val="294C6F"/>
                </a:solidFill>
                <a:latin typeface="Helvetica Neue"/>
                <a:ea typeface="Helvetica Neue"/>
                <a:cs typeface="Helvetica Neue"/>
                <a:sym typeface="Helvetica Neue"/>
              </a:rPr>
              <a:t>Data Science and AI ML</a:t>
            </a:r>
          </a:p>
          <a:p>
            <a:pPr marL="0" marR="0" lvl="0" indent="0" algn="l" rtl="0">
              <a:lnSpc>
                <a:spcPct val="115000"/>
              </a:lnSpc>
              <a:spcBef>
                <a:spcPts val="0"/>
              </a:spcBef>
              <a:spcAft>
                <a:spcPts val="0"/>
              </a:spcAft>
              <a:buClr>
                <a:schemeClr val="dk2"/>
              </a:buClr>
              <a:buSzPts val="1800"/>
              <a:buFont typeface="Arial"/>
              <a:buNone/>
            </a:pPr>
            <a:r>
              <a:rPr lang="en-GB" sz="1600" dirty="0">
                <a:solidFill>
                  <a:srgbClr val="294C6F"/>
                </a:solidFill>
                <a:latin typeface="Helvetica Neue"/>
                <a:ea typeface="Helvetica Neue"/>
                <a:cs typeface="Helvetica Neue"/>
                <a:sym typeface="Helvetica Neue"/>
              </a:rPr>
              <a:t> </a:t>
            </a:r>
            <a:endParaRPr sz="1600" b="0" i="0" u="none" strike="noStrike" cap="none" dirty="0">
              <a:solidFill>
                <a:srgbClr val="294C6F"/>
              </a:solidFill>
              <a:latin typeface="Helvetica Neue"/>
              <a:ea typeface="Helvetica Neue"/>
              <a:cs typeface="Helvetica Neue"/>
              <a:sym typeface="Helvetica Neue"/>
            </a:endParaRPr>
          </a:p>
          <a:p>
            <a:pPr marL="0" marR="0" lvl="0" indent="0" rtl="0">
              <a:lnSpc>
                <a:spcPct val="100000"/>
              </a:lnSpc>
              <a:spcBef>
                <a:spcPts val="0"/>
              </a:spcBef>
              <a:spcAft>
                <a:spcPts val="0"/>
              </a:spcAft>
              <a:buClr>
                <a:schemeClr val="dk2"/>
              </a:buClr>
              <a:buSzPts val="1800"/>
              <a:buFont typeface="Arial"/>
              <a:buNone/>
            </a:pPr>
            <a:r>
              <a:rPr lang="en-GB" sz="1400" dirty="0">
                <a:solidFill>
                  <a:srgbClr val="294C6F"/>
                </a:solidFill>
                <a:latin typeface="Helvetica Neue"/>
                <a:ea typeface="Helvetica Neue"/>
                <a:cs typeface="Helvetica Neue"/>
                <a:sym typeface="Helvetica Neue"/>
              </a:rPr>
              <a:t>                          </a:t>
            </a:r>
            <a:r>
              <a:rPr lang="en-GB" sz="1400" b="1" dirty="0">
                <a:solidFill>
                  <a:srgbClr val="294C6F"/>
                </a:solidFill>
                <a:latin typeface="Helvetica Neue"/>
                <a:ea typeface="Helvetica Neue"/>
                <a:cs typeface="Helvetica Neue"/>
                <a:sym typeface="Helvetica Neue"/>
              </a:rPr>
              <a:t>Team Members: </a:t>
            </a:r>
            <a:endParaRPr sz="1400" b="1" dirty="0">
              <a:solidFill>
                <a:srgbClr val="294C6F"/>
              </a:solidFill>
              <a:latin typeface="Helvetica Neue"/>
              <a:ea typeface="Helvetica Neue"/>
              <a:cs typeface="Helvetica Neue"/>
              <a:sym typeface="Helvetica Neue"/>
            </a:endParaRPr>
          </a:p>
          <a:p>
            <a:pPr marL="0" marR="0" lvl="0" indent="0" rtl="0">
              <a:lnSpc>
                <a:spcPct val="100000"/>
              </a:lnSpc>
              <a:spcBef>
                <a:spcPts val="0"/>
              </a:spcBef>
              <a:spcAft>
                <a:spcPts val="0"/>
              </a:spcAft>
              <a:buClr>
                <a:schemeClr val="dk2"/>
              </a:buClr>
              <a:buSzPts val="1800"/>
              <a:buFont typeface="Arial"/>
              <a:buNone/>
            </a:pPr>
            <a:r>
              <a:rPr lang="en-GB" sz="1400" dirty="0">
                <a:solidFill>
                  <a:schemeClr val="tx1"/>
                </a:solidFill>
                <a:latin typeface="Helvetica Neue"/>
                <a:ea typeface="Helvetica Neue"/>
                <a:cs typeface="Helvetica Neue"/>
                <a:sym typeface="Helvetica Neue"/>
              </a:rPr>
              <a:t>                          1. Hemanth</a:t>
            </a:r>
            <a:endParaRPr sz="1400" dirty="0">
              <a:solidFill>
                <a:schemeClr val="tx1"/>
              </a:solidFill>
              <a:latin typeface="Helvetica Neue"/>
              <a:ea typeface="Helvetica Neue"/>
              <a:cs typeface="Helvetica Neue"/>
              <a:sym typeface="Helvetica Neue"/>
            </a:endParaRPr>
          </a:p>
          <a:p>
            <a:pPr marL="0" marR="0" lvl="0" indent="0" rtl="0">
              <a:lnSpc>
                <a:spcPct val="100000"/>
              </a:lnSpc>
              <a:spcBef>
                <a:spcPts val="0"/>
              </a:spcBef>
              <a:spcAft>
                <a:spcPts val="0"/>
              </a:spcAft>
              <a:buClr>
                <a:schemeClr val="dk2"/>
              </a:buClr>
              <a:buSzPts val="1800"/>
              <a:buFont typeface="Arial"/>
              <a:buNone/>
            </a:pPr>
            <a:r>
              <a:rPr lang="en-GB" sz="1400" dirty="0">
                <a:solidFill>
                  <a:schemeClr val="tx1"/>
                </a:solidFill>
                <a:latin typeface="Helvetica Neue"/>
                <a:ea typeface="Helvetica Neue"/>
                <a:cs typeface="Helvetica Neue"/>
                <a:sym typeface="Helvetica Neue"/>
              </a:rPr>
              <a:t>                          2. Rakshith B</a:t>
            </a:r>
            <a:endParaRPr sz="1400" dirty="0">
              <a:solidFill>
                <a:schemeClr val="tx1"/>
              </a:solidFill>
              <a:latin typeface="Helvetica Neue"/>
              <a:ea typeface="Helvetica Neue"/>
              <a:cs typeface="Helvetica Neue"/>
              <a:sym typeface="Helvetica Neue"/>
            </a:endParaRPr>
          </a:p>
          <a:p>
            <a:pPr marL="0" marR="0" lvl="0" indent="0" rtl="0">
              <a:lnSpc>
                <a:spcPct val="100000"/>
              </a:lnSpc>
              <a:spcBef>
                <a:spcPts val="0"/>
              </a:spcBef>
              <a:spcAft>
                <a:spcPts val="0"/>
              </a:spcAft>
              <a:buClr>
                <a:schemeClr val="dk2"/>
              </a:buClr>
              <a:buSzPts val="1800"/>
              <a:buFont typeface="Arial"/>
              <a:buNone/>
            </a:pPr>
            <a:r>
              <a:rPr lang="en-GB" sz="1400" dirty="0">
                <a:solidFill>
                  <a:schemeClr val="tx1"/>
                </a:solidFill>
                <a:latin typeface="Helvetica Neue"/>
                <a:ea typeface="Helvetica Neue"/>
                <a:cs typeface="Helvetica Neue"/>
                <a:sym typeface="Helvetica Neue"/>
              </a:rPr>
              <a:t>                          3. Ruchitha K M</a:t>
            </a:r>
            <a:endParaRPr sz="1400" dirty="0">
              <a:solidFill>
                <a:schemeClr val="tx1"/>
              </a:solidFill>
              <a:latin typeface="Helvetica Neue"/>
              <a:ea typeface="Helvetica Neue"/>
              <a:cs typeface="Helvetica Neue"/>
              <a:sym typeface="Helvetica Neue"/>
            </a:endParaRPr>
          </a:p>
          <a:p>
            <a:pPr marL="0" marR="0" lvl="0" indent="0" rtl="0">
              <a:lnSpc>
                <a:spcPct val="100000"/>
              </a:lnSpc>
              <a:spcBef>
                <a:spcPts val="0"/>
              </a:spcBef>
              <a:spcAft>
                <a:spcPts val="0"/>
              </a:spcAft>
              <a:buClr>
                <a:schemeClr val="dk2"/>
              </a:buClr>
              <a:buSzPts val="1800"/>
              <a:buFont typeface="Arial"/>
              <a:buNone/>
            </a:pPr>
            <a:r>
              <a:rPr lang="en-GB" sz="1400" dirty="0">
                <a:solidFill>
                  <a:schemeClr val="tx1"/>
                </a:solidFill>
                <a:latin typeface="Helvetica Neue"/>
                <a:ea typeface="Helvetica Neue"/>
                <a:cs typeface="Helvetica Neue"/>
                <a:sym typeface="Helvetica Neue"/>
              </a:rPr>
              <a:t>                          4. Sumaiya N</a:t>
            </a:r>
            <a:endParaRPr sz="1400" dirty="0">
              <a:solidFill>
                <a:schemeClr val="tx1"/>
              </a:solidFill>
              <a:latin typeface="Helvetica Neue"/>
              <a:ea typeface="Helvetica Neue"/>
              <a:cs typeface="Helvetica Neue"/>
              <a:sym typeface="Helvetica Neue"/>
            </a:endParaRPr>
          </a:p>
          <a:p>
            <a:pPr marL="0" marR="0" lvl="0" indent="0" rtl="0">
              <a:lnSpc>
                <a:spcPct val="100000"/>
              </a:lnSpc>
              <a:spcBef>
                <a:spcPts val="0"/>
              </a:spcBef>
              <a:spcAft>
                <a:spcPts val="0"/>
              </a:spcAft>
              <a:buClr>
                <a:schemeClr val="dk2"/>
              </a:buClr>
              <a:buSzPts val="1800"/>
              <a:buFont typeface="Arial"/>
              <a:buNone/>
            </a:pPr>
            <a:r>
              <a:rPr lang="en-GB" sz="1400" dirty="0">
                <a:solidFill>
                  <a:schemeClr val="tx1"/>
                </a:solidFill>
                <a:latin typeface="Helvetica Neue"/>
                <a:ea typeface="Helvetica Neue"/>
                <a:cs typeface="Helvetica Neue"/>
                <a:sym typeface="Helvetica Neue"/>
              </a:rPr>
              <a:t>                          5. Vandana J</a:t>
            </a:r>
            <a:endParaRPr sz="1400" dirty="0">
              <a:solidFill>
                <a:schemeClr val="tx1"/>
              </a:solidFill>
              <a:latin typeface="Helvetica Neue"/>
              <a:ea typeface="Helvetica Neue"/>
              <a:cs typeface="Helvetica Neue"/>
              <a:sym typeface="Helvetica Neue"/>
            </a:endParaRPr>
          </a:p>
        </p:txBody>
      </p:sp>
      <p:grpSp>
        <p:nvGrpSpPr>
          <p:cNvPr id="58" name="Google Shape;58;p1"/>
          <p:cNvGrpSpPr/>
          <p:nvPr/>
        </p:nvGrpSpPr>
        <p:grpSpPr>
          <a:xfrm>
            <a:off x="556474" y="261338"/>
            <a:ext cx="8207554" cy="1097424"/>
            <a:chOff x="556474" y="261338"/>
            <a:chExt cx="8207554" cy="1097424"/>
          </a:xfrm>
        </p:grpSpPr>
        <p:pic>
          <p:nvPicPr>
            <p:cNvPr id="59" name="Google Shape;59;p1"/>
            <p:cNvPicPr preferRelativeResize="0"/>
            <p:nvPr/>
          </p:nvPicPr>
          <p:blipFill rotWithShape="1">
            <a:blip r:embed="rId3">
              <a:alphaModFix/>
            </a:blip>
            <a:srcRect t="23174" b="23167"/>
            <a:stretch/>
          </p:blipFill>
          <p:spPr>
            <a:xfrm>
              <a:off x="556474" y="522675"/>
              <a:ext cx="3134699" cy="574750"/>
            </a:xfrm>
            <a:prstGeom prst="rect">
              <a:avLst/>
            </a:prstGeom>
            <a:noFill/>
            <a:ln>
              <a:noFill/>
            </a:ln>
          </p:spPr>
        </p:pic>
        <p:pic>
          <p:nvPicPr>
            <p:cNvPr id="60" name="Google Shape;60;p1" title="ERA LOGO PNG.png"/>
            <p:cNvPicPr preferRelativeResize="0"/>
            <p:nvPr/>
          </p:nvPicPr>
          <p:blipFill rotWithShape="1">
            <a:blip r:embed="rId4">
              <a:alphaModFix/>
            </a:blip>
            <a:srcRect/>
            <a:stretch/>
          </p:blipFill>
          <p:spPr>
            <a:xfrm>
              <a:off x="7895230" y="261338"/>
              <a:ext cx="868798" cy="1097424"/>
            </a:xfrm>
            <a:prstGeom prst="rect">
              <a:avLst/>
            </a:prstGeom>
            <a:noFill/>
            <a:ln>
              <a:noFill/>
            </a:ln>
          </p:spPr>
        </p:pic>
      </p:grpSp>
      <p:sp>
        <p:nvSpPr>
          <p:cNvPr id="61" name="Google Shape;61;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rmAutofit/>
          </a:bodyPr>
          <a:lstStyle/>
          <a:p>
            <a:pPr marL="0" lvl="0" indent="0" algn="r" rtl="0">
              <a:lnSpc>
                <a:spcPct val="100000"/>
              </a:lnSpc>
              <a:spcBef>
                <a:spcPts val="0"/>
              </a:spcBef>
              <a:spcAft>
                <a:spcPts val="0"/>
              </a:spcAft>
              <a:buSzPts val="1000"/>
              <a:buNone/>
            </a:pPr>
            <a:fld id="{00000000-1234-1234-1234-123412341234}" type="slidenum">
              <a:rPr lang="en-GB"/>
              <a:t>1</a:t>
            </a:fld>
            <a:endParaRPr/>
          </a:p>
        </p:txBody>
      </p:sp>
      <p:sp>
        <p:nvSpPr>
          <p:cNvPr id="62" name="Google Shape;62;p1"/>
          <p:cNvSpPr txBox="1">
            <a:spLocks noGrp="1"/>
          </p:cNvSpPr>
          <p:nvPr>
            <p:ph type="subTitle" idx="4294967295"/>
          </p:nvPr>
        </p:nvSpPr>
        <p:spPr>
          <a:xfrm>
            <a:off x="5227895" y="2571750"/>
            <a:ext cx="2073000" cy="413076"/>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2"/>
              </a:buClr>
              <a:buSzPts val="1800"/>
              <a:buFont typeface="Arial"/>
              <a:buNone/>
            </a:pPr>
            <a:r>
              <a:rPr lang="en-GB" sz="1400" b="1" dirty="0">
                <a:solidFill>
                  <a:srgbClr val="294C6F"/>
                </a:solidFill>
                <a:latin typeface="Helvetica Neue"/>
                <a:ea typeface="Helvetica Neue"/>
                <a:cs typeface="Helvetica Neue"/>
                <a:sym typeface="Helvetica Neue"/>
              </a:rPr>
              <a:t>Guide:</a:t>
            </a:r>
            <a:r>
              <a:rPr lang="en-GB" sz="1400" dirty="0">
                <a:solidFill>
                  <a:srgbClr val="294C6F"/>
                </a:solidFill>
                <a:latin typeface="Helvetica Neue"/>
                <a:ea typeface="Helvetica Neue"/>
                <a:cs typeface="Helvetica Neue"/>
                <a:sym typeface="Helvetica Neue"/>
              </a:rPr>
              <a:t> </a:t>
            </a:r>
            <a:r>
              <a:rPr lang="en-GB" sz="1400" dirty="0">
                <a:solidFill>
                  <a:schemeClr val="tx1"/>
                </a:solidFill>
                <a:latin typeface="Helvetica Neue"/>
                <a:ea typeface="Helvetica Neue"/>
                <a:cs typeface="Helvetica Neue"/>
                <a:sym typeface="Helvetica Neue"/>
              </a:rPr>
              <a:t>Kavya Rao</a:t>
            </a:r>
            <a:endParaRPr sz="1400" dirty="0">
              <a:solidFill>
                <a:schemeClr val="tx1"/>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2"/>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68" name="Google Shape;68;p2"/>
          <p:cNvSpPr txBox="1"/>
          <p:nvPr/>
        </p:nvSpPr>
        <p:spPr>
          <a:xfrm>
            <a:off x="638653" y="1566900"/>
            <a:ext cx="7360800" cy="23955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0"/>
              </a:spcBef>
              <a:spcAft>
                <a:spcPts val="0"/>
              </a:spcAft>
              <a:buClr>
                <a:schemeClr val="dk1"/>
              </a:buClr>
              <a:buSzPts val="1300"/>
              <a:buFont typeface="Helvetica Neue Light"/>
              <a:buChar char="●"/>
            </a:pPr>
            <a:r>
              <a:rPr lang="en-GB" sz="1500" dirty="0">
                <a:solidFill>
                  <a:schemeClr val="tx1"/>
                </a:solidFill>
                <a:latin typeface="Helvetica Neue Light" panose="020B0604020202020204" charset="0"/>
              </a:rPr>
              <a:t>Introduction</a:t>
            </a:r>
            <a:endParaRPr sz="1500" b="0" i="0" u="none" strike="noStrike" cap="none" dirty="0">
              <a:solidFill>
                <a:schemeClr val="tx1"/>
              </a:solidFill>
              <a:latin typeface="Helvetica Neue Light" panose="020B0604020202020204" charset="0"/>
              <a:sym typeface="Arial"/>
            </a:endParaRPr>
          </a:p>
          <a:p>
            <a:pPr marL="457200" marR="0" lvl="0" indent="-311150" algn="l" rtl="0">
              <a:lnSpc>
                <a:spcPct val="115000"/>
              </a:lnSpc>
              <a:spcBef>
                <a:spcPts val="0"/>
              </a:spcBef>
              <a:spcAft>
                <a:spcPts val="0"/>
              </a:spcAft>
              <a:buClr>
                <a:schemeClr val="dk1"/>
              </a:buClr>
              <a:buSzPts val="1300"/>
              <a:buFont typeface="Arial"/>
              <a:buChar char="●"/>
            </a:pPr>
            <a:r>
              <a:rPr lang="en-GB" sz="1500" dirty="0">
                <a:solidFill>
                  <a:schemeClr val="tx1"/>
                </a:solidFill>
                <a:latin typeface="Helvetica Neue Light" panose="020B0604020202020204" charset="0"/>
              </a:rPr>
              <a:t>SMART Objectives</a:t>
            </a:r>
            <a:endParaRPr sz="1500" b="0" i="0" u="none" strike="noStrike" cap="none" dirty="0">
              <a:solidFill>
                <a:schemeClr val="tx1"/>
              </a:solidFill>
              <a:latin typeface="Helvetica Neue Light" panose="020B0604020202020204" charset="0"/>
              <a:sym typeface="Arial"/>
            </a:endParaRPr>
          </a:p>
          <a:p>
            <a:pPr marL="457200" marR="0" lvl="0" indent="-311150" algn="l" rtl="0">
              <a:lnSpc>
                <a:spcPct val="115000"/>
              </a:lnSpc>
              <a:spcBef>
                <a:spcPts val="0"/>
              </a:spcBef>
              <a:spcAft>
                <a:spcPts val="0"/>
              </a:spcAft>
              <a:buClr>
                <a:schemeClr val="dk1"/>
              </a:buClr>
              <a:buSzPts val="1300"/>
              <a:buFont typeface="Arial"/>
              <a:buChar char="●"/>
            </a:pPr>
            <a:r>
              <a:rPr lang="en-GB" sz="1500" dirty="0">
                <a:solidFill>
                  <a:schemeClr val="tx1"/>
                </a:solidFill>
                <a:latin typeface="Helvetica Neue Light" panose="020B0604020202020204" charset="0"/>
              </a:rPr>
              <a:t>5W1H Analysis and SCAMPER Ideation</a:t>
            </a:r>
            <a:endParaRPr sz="1500" dirty="0">
              <a:solidFill>
                <a:schemeClr val="tx1"/>
              </a:solidFill>
              <a:latin typeface="Helvetica Neue Light" panose="020B0604020202020204" charset="0"/>
            </a:endParaRPr>
          </a:p>
          <a:p>
            <a:pPr marL="457200" marR="0" lvl="0" indent="-311150" algn="l" rtl="0">
              <a:lnSpc>
                <a:spcPct val="115000"/>
              </a:lnSpc>
              <a:spcBef>
                <a:spcPts val="0"/>
              </a:spcBef>
              <a:spcAft>
                <a:spcPts val="0"/>
              </a:spcAft>
              <a:buClr>
                <a:schemeClr val="dk1"/>
              </a:buClr>
              <a:buSzPts val="1300"/>
              <a:buFont typeface="Arial"/>
              <a:buChar char="●"/>
            </a:pPr>
            <a:r>
              <a:rPr lang="en-GB" sz="1500" dirty="0">
                <a:solidFill>
                  <a:schemeClr val="tx1"/>
                </a:solidFill>
                <a:latin typeface="Helvetica Neue Light" panose="020B0604020202020204" charset="0"/>
              </a:rPr>
              <a:t>Literature Insights </a:t>
            </a:r>
            <a:endParaRPr sz="1500" b="0" i="0" u="none" strike="noStrike" cap="none" dirty="0">
              <a:solidFill>
                <a:schemeClr val="tx1"/>
              </a:solidFill>
              <a:latin typeface="Helvetica Neue Light" panose="020B0604020202020204" charset="0"/>
              <a:sym typeface="Arial"/>
            </a:endParaRPr>
          </a:p>
          <a:p>
            <a:pPr marL="457200" marR="0" lvl="0" indent="-311150" algn="l" rtl="0">
              <a:lnSpc>
                <a:spcPct val="115000"/>
              </a:lnSpc>
              <a:spcBef>
                <a:spcPts val="0"/>
              </a:spcBef>
              <a:spcAft>
                <a:spcPts val="0"/>
              </a:spcAft>
              <a:buClr>
                <a:schemeClr val="dk1"/>
              </a:buClr>
              <a:buSzPts val="1300"/>
              <a:buFont typeface="Arial"/>
              <a:buChar char="●"/>
            </a:pPr>
            <a:r>
              <a:rPr lang="en-GB" sz="1500" dirty="0">
                <a:solidFill>
                  <a:schemeClr val="tx1"/>
                </a:solidFill>
                <a:latin typeface="Helvetica Neue Light" panose="020B0604020202020204" charset="0"/>
              </a:rPr>
              <a:t>Proposed Solution</a:t>
            </a:r>
            <a:endParaRPr sz="1500" b="0" i="0" u="none" strike="noStrike" cap="none" dirty="0">
              <a:solidFill>
                <a:schemeClr val="tx1"/>
              </a:solidFill>
              <a:latin typeface="Helvetica Neue Light" panose="020B0604020202020204" charset="0"/>
              <a:sym typeface="Arial"/>
            </a:endParaRPr>
          </a:p>
          <a:p>
            <a:pPr marL="457200" marR="0" lvl="0" indent="-311150" algn="l" rtl="0">
              <a:lnSpc>
                <a:spcPct val="115000"/>
              </a:lnSpc>
              <a:spcBef>
                <a:spcPts val="0"/>
              </a:spcBef>
              <a:spcAft>
                <a:spcPts val="0"/>
              </a:spcAft>
              <a:buClr>
                <a:schemeClr val="dk1"/>
              </a:buClr>
              <a:buSzPts val="1300"/>
              <a:buFont typeface="Arial"/>
              <a:buChar char="●"/>
            </a:pPr>
            <a:r>
              <a:rPr lang="en-GB" sz="1500" dirty="0">
                <a:solidFill>
                  <a:schemeClr val="tx1"/>
                </a:solidFill>
                <a:latin typeface="Helvetica Neue Light" panose="020B0604020202020204" charset="0"/>
              </a:rPr>
              <a:t>System Overview</a:t>
            </a:r>
            <a:endParaRPr sz="1500" dirty="0">
              <a:solidFill>
                <a:schemeClr val="tx1"/>
              </a:solidFill>
              <a:latin typeface="Helvetica Neue Light" panose="020B0604020202020204" charset="0"/>
            </a:endParaRPr>
          </a:p>
          <a:p>
            <a:pPr marL="457200" marR="0" lvl="0" indent="-311150" algn="l" rtl="0">
              <a:lnSpc>
                <a:spcPct val="115000"/>
              </a:lnSpc>
              <a:spcBef>
                <a:spcPts val="0"/>
              </a:spcBef>
              <a:spcAft>
                <a:spcPts val="0"/>
              </a:spcAft>
              <a:buClr>
                <a:schemeClr val="dk1"/>
              </a:buClr>
              <a:buSzPts val="1300"/>
              <a:buChar char="●"/>
            </a:pPr>
            <a:r>
              <a:rPr lang="en-GB" sz="1500" dirty="0">
                <a:solidFill>
                  <a:schemeClr val="tx1"/>
                </a:solidFill>
                <a:latin typeface="Helvetica Neue Light" panose="020B0604020202020204" charset="0"/>
              </a:rPr>
              <a:t>Gantt Chart</a:t>
            </a:r>
            <a:endParaRPr sz="1500" dirty="0">
              <a:solidFill>
                <a:schemeClr val="tx1"/>
              </a:solidFill>
              <a:latin typeface="Helvetica Neue Light" panose="020B0604020202020204" charset="0"/>
            </a:endParaRPr>
          </a:p>
          <a:p>
            <a:pPr marL="457200" marR="0" lvl="0" indent="-311150" algn="l" rtl="0">
              <a:lnSpc>
                <a:spcPct val="115000"/>
              </a:lnSpc>
              <a:spcBef>
                <a:spcPts val="0"/>
              </a:spcBef>
              <a:spcAft>
                <a:spcPts val="0"/>
              </a:spcAft>
              <a:buClr>
                <a:schemeClr val="dk1"/>
              </a:buClr>
              <a:buSzPts val="1300"/>
              <a:buChar char="●"/>
            </a:pPr>
            <a:r>
              <a:rPr lang="en-GB" sz="1500" dirty="0">
                <a:solidFill>
                  <a:schemeClr val="tx1"/>
                </a:solidFill>
                <a:latin typeface="Helvetica Neue Light" panose="020B0604020202020204" charset="0"/>
              </a:rPr>
              <a:t>Expected Outcome</a:t>
            </a:r>
            <a:endParaRPr sz="1500" dirty="0">
              <a:solidFill>
                <a:schemeClr val="tx1"/>
              </a:solidFill>
              <a:latin typeface="Helvetica Neue Light" panose="020B0604020202020204" charset="0"/>
            </a:endParaRPr>
          </a:p>
          <a:p>
            <a:pPr marL="0" marR="0" lvl="0" indent="0" algn="l" rtl="0">
              <a:lnSpc>
                <a:spcPct val="115000"/>
              </a:lnSpc>
              <a:spcBef>
                <a:spcPts val="1200"/>
              </a:spcBef>
              <a:spcAft>
                <a:spcPts val="0"/>
              </a:spcAft>
              <a:buClr>
                <a:srgbClr val="000000"/>
              </a:buClr>
              <a:buSzPts val="1300"/>
              <a:buFont typeface="Arial"/>
              <a:buNone/>
            </a:pPr>
            <a:endParaRPr sz="1500" b="0" i="0" u="none" strike="noStrike" cap="none" dirty="0">
              <a:solidFill>
                <a:schemeClr val="tx1"/>
              </a:solidFill>
              <a:latin typeface="Helvetica Neue Light" panose="020B0604020202020204" charset="0"/>
              <a:ea typeface="Helvetica Neue Light"/>
              <a:cs typeface="Helvetica Neue Light"/>
              <a:sym typeface="Helvetica Neue Light"/>
            </a:endParaRPr>
          </a:p>
        </p:txBody>
      </p:sp>
      <p:sp>
        <p:nvSpPr>
          <p:cNvPr id="69" name="Google Shape;69;p2"/>
          <p:cNvSpPr txBox="1"/>
          <p:nvPr/>
        </p:nvSpPr>
        <p:spPr>
          <a:xfrm>
            <a:off x="1003975" y="894325"/>
            <a:ext cx="5069700" cy="44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Agenda:</a:t>
            </a:r>
            <a:endParaRPr sz="3100" b="1" i="0" u="none" strike="noStrike" cap="none" dirty="0">
              <a:solidFill>
                <a:srgbClr val="09134D"/>
              </a:solidFill>
              <a:latin typeface="Helvetica Neue"/>
              <a:ea typeface="Helvetica Neue"/>
              <a:cs typeface="Helvetica Neue"/>
              <a:sym typeface="Helvetica Neue"/>
            </a:endParaRPr>
          </a:p>
        </p:txBody>
      </p:sp>
      <p:sp>
        <p:nvSpPr>
          <p:cNvPr id="70" name="Google Shape;70;p2"/>
          <p:cNvSpPr txBox="1"/>
          <p:nvPr/>
        </p:nvSpPr>
        <p:spPr>
          <a:xfrm>
            <a:off x="1045075" y="2266500"/>
            <a:ext cx="4987500" cy="2304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1700"/>
              <a:buFont typeface="Arial"/>
              <a:buNone/>
            </a:pPr>
            <a:endParaRPr sz="1700" b="0" i="0" u="none" strike="noStrike" cap="none">
              <a:solidFill>
                <a:srgbClr val="FF4A0E"/>
              </a:solidFill>
              <a:latin typeface="Helvetica Neue"/>
              <a:ea typeface="Helvetica Neue"/>
              <a:cs typeface="Helvetica Neue"/>
              <a:sym typeface="Helvetica Neue"/>
            </a:endParaRPr>
          </a:p>
        </p:txBody>
      </p:sp>
      <p:sp>
        <p:nvSpPr>
          <p:cNvPr id="71" name="Google Shape;71;p2"/>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GB"/>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g3a841a0f086_0_91"/>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77" name="Google Shape;77;g3a841a0f086_0_91"/>
          <p:cNvSpPr txBox="1"/>
          <p:nvPr/>
        </p:nvSpPr>
        <p:spPr>
          <a:xfrm>
            <a:off x="740457" y="1402010"/>
            <a:ext cx="7360800" cy="3467356"/>
          </a:xfrm>
          <a:prstGeom prst="rect">
            <a:avLst/>
          </a:prstGeom>
          <a:noFill/>
          <a:ln>
            <a:noFill/>
          </a:ln>
        </p:spPr>
        <p:txBody>
          <a:bodyPr spcFirstLastPara="1" wrap="square" lIns="91425" tIns="91425" rIns="91425" bIns="91425" anchor="t" anchorCtr="0">
            <a:noAutofit/>
          </a:bodyPr>
          <a:lstStyle/>
          <a:p>
            <a:pPr marL="285750" marR="0" lvl="0" indent="-285750" algn="l" rtl="0">
              <a:lnSpc>
                <a:spcPct val="115000"/>
              </a:lnSpc>
              <a:spcBef>
                <a:spcPts val="0"/>
              </a:spcBef>
              <a:spcAft>
                <a:spcPts val="0"/>
              </a:spcAft>
              <a:buClr>
                <a:srgbClr val="000000"/>
              </a:buClr>
              <a:buSzPts val="1500"/>
              <a:buFont typeface="Arial" panose="020B0604020202020204" pitchFamily="34" charset="0"/>
              <a:buChar char="•"/>
            </a:pPr>
            <a:r>
              <a:rPr lang="en-US" sz="1500" dirty="0">
                <a:solidFill>
                  <a:schemeClr val="tx1"/>
                </a:solidFill>
                <a:latin typeface="Helvetica Neue Light"/>
                <a:ea typeface="Helvetica Neue Light"/>
                <a:cs typeface="Helvetica Neue Light"/>
                <a:sym typeface="Helvetica Neue Light"/>
              </a:rPr>
              <a:t>Financial institutions face difficulty in accurately identifying borrowers who may default on loan. Traditional credit scoring methods rely on limited financial information and may not provide high prediction accuracy. Hence, there is a need for a data-driven machine learning system that can analyze borrower data and predict loan default risk more effectively.</a:t>
            </a:r>
          </a:p>
          <a:p>
            <a:pPr marL="0" marR="0" lvl="0" indent="0" algn="l" rtl="0">
              <a:lnSpc>
                <a:spcPct val="115000"/>
              </a:lnSpc>
              <a:spcBef>
                <a:spcPts val="0"/>
              </a:spcBef>
              <a:spcAft>
                <a:spcPts val="0"/>
              </a:spcAft>
              <a:buClr>
                <a:srgbClr val="000000"/>
              </a:buClr>
              <a:buSzPts val="1500"/>
              <a:buFont typeface="Arial"/>
              <a:buNone/>
            </a:pPr>
            <a:endParaRPr lang="en-US" sz="1500" dirty="0">
              <a:solidFill>
                <a:srgbClr val="595959"/>
              </a:solidFill>
              <a:latin typeface="Helvetica Neue Light"/>
              <a:ea typeface="Helvetica Neue Light"/>
              <a:cs typeface="Helvetica Neue Light"/>
              <a:sym typeface="Helvetica Neue Light"/>
            </a:endParaRPr>
          </a:p>
          <a:p>
            <a:r>
              <a:rPr lang="en-US" sz="2400" b="1" dirty="0">
                <a:solidFill>
                  <a:srgbClr val="002060"/>
                </a:solidFill>
                <a:latin typeface="Helvetica Neue" panose="020B0604020202020204" charset="0"/>
              </a:rPr>
              <a:t>Motivation / Why this problem matters:</a:t>
            </a:r>
          </a:p>
          <a:p>
            <a:pPr marL="285750" indent="-285750">
              <a:lnSpc>
                <a:spcPct val="150000"/>
              </a:lnSpc>
              <a:buFont typeface="Arial" panose="020B0604020202020204" pitchFamily="34" charset="0"/>
              <a:buChar char="•"/>
            </a:pPr>
            <a:r>
              <a:rPr lang="en-US" sz="1500" dirty="0">
                <a:solidFill>
                  <a:schemeClr val="tx1"/>
                </a:solidFill>
                <a:latin typeface="Helvetica Neue Light" panose="020B0604020202020204" charset="0"/>
              </a:rPr>
              <a:t>Reduce bad loans and repayment failures</a:t>
            </a:r>
          </a:p>
          <a:p>
            <a:pPr marL="285750" indent="-285750">
              <a:lnSpc>
                <a:spcPct val="150000"/>
              </a:lnSpc>
              <a:buFont typeface="Arial" panose="020B0604020202020204" pitchFamily="34" charset="0"/>
              <a:buChar char="•"/>
            </a:pPr>
            <a:r>
              <a:rPr lang="en-US" sz="1500" dirty="0">
                <a:solidFill>
                  <a:schemeClr val="tx1"/>
                </a:solidFill>
                <a:latin typeface="Helvetica Neue Light" panose="020B0604020202020204" charset="0"/>
              </a:rPr>
              <a:t>Improve speed of loan approval decisions</a:t>
            </a:r>
          </a:p>
          <a:p>
            <a:pPr marL="285750" indent="-285750">
              <a:lnSpc>
                <a:spcPct val="150000"/>
              </a:lnSpc>
              <a:buFont typeface="Arial" panose="020B0604020202020204" pitchFamily="34" charset="0"/>
              <a:buChar char="•"/>
            </a:pPr>
            <a:r>
              <a:rPr lang="en-US" sz="1500" dirty="0">
                <a:solidFill>
                  <a:schemeClr val="tx1"/>
                </a:solidFill>
                <a:latin typeface="Helvetica Neue Light" panose="020B0604020202020204" charset="0"/>
              </a:rPr>
              <a:t>Support data-backed lending</a:t>
            </a:r>
          </a:p>
          <a:p>
            <a:pPr marL="285750" indent="-285750">
              <a:lnSpc>
                <a:spcPct val="150000"/>
              </a:lnSpc>
              <a:buFont typeface="Arial" panose="020B0604020202020204" pitchFamily="34" charset="0"/>
              <a:buChar char="•"/>
            </a:pPr>
            <a:r>
              <a:rPr lang="en-US" sz="1500" dirty="0">
                <a:solidFill>
                  <a:schemeClr val="tx1"/>
                </a:solidFill>
                <a:latin typeface="Helvetica Neue Light" panose="020B0604020202020204" charset="0"/>
              </a:rPr>
              <a:t>Minimize human bias in risk analysis</a:t>
            </a:r>
          </a:p>
          <a:p>
            <a:pPr marL="0" marR="0" lvl="0" indent="0" algn="l" rtl="0">
              <a:lnSpc>
                <a:spcPct val="115000"/>
              </a:lnSpc>
              <a:spcBef>
                <a:spcPts val="0"/>
              </a:spcBef>
              <a:spcAft>
                <a:spcPts val="0"/>
              </a:spcAft>
              <a:buClr>
                <a:srgbClr val="000000"/>
              </a:buClr>
              <a:buSzPts val="1500"/>
              <a:buFont typeface="Arial"/>
              <a:buNone/>
            </a:pPr>
            <a:endParaRPr sz="1500" dirty="0">
              <a:solidFill>
                <a:srgbClr val="595959"/>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Clr>
                <a:srgbClr val="000000"/>
              </a:buClr>
              <a:buSzPts val="1500"/>
              <a:buFont typeface="Arial"/>
              <a:buNone/>
            </a:pPr>
            <a:endParaRPr sz="1500" b="0" i="0" u="none" strike="noStrike" cap="none" dirty="0">
              <a:solidFill>
                <a:srgbClr val="595959"/>
              </a:solidFill>
              <a:latin typeface="Helvetica Neue Light"/>
              <a:ea typeface="Helvetica Neue Light"/>
              <a:cs typeface="Helvetica Neue Light"/>
              <a:sym typeface="Helvetica Neue Light"/>
            </a:endParaRPr>
          </a:p>
          <a:p>
            <a:pPr marL="0" marR="0" lvl="0" indent="0" algn="l" rtl="0">
              <a:lnSpc>
                <a:spcPct val="115000"/>
              </a:lnSpc>
              <a:spcBef>
                <a:spcPts val="0"/>
              </a:spcBef>
              <a:spcAft>
                <a:spcPts val="0"/>
              </a:spcAft>
              <a:buNone/>
            </a:pPr>
            <a:endParaRPr sz="1500" b="0" i="0" u="none" strike="noStrike" cap="none" dirty="0">
              <a:solidFill>
                <a:srgbClr val="595959"/>
              </a:solidFill>
              <a:latin typeface="Helvetica Neue Light"/>
              <a:ea typeface="Helvetica Neue Light"/>
              <a:cs typeface="Helvetica Neue Light"/>
              <a:sym typeface="Helvetica Neue Light"/>
            </a:endParaRPr>
          </a:p>
          <a:p>
            <a:pPr marL="457200" marR="0" lvl="0" indent="0" algn="l" rtl="0">
              <a:lnSpc>
                <a:spcPct val="115000"/>
              </a:lnSpc>
              <a:spcBef>
                <a:spcPts val="0"/>
              </a:spcBef>
              <a:spcAft>
                <a:spcPts val="0"/>
              </a:spcAft>
              <a:buClr>
                <a:srgbClr val="000000"/>
              </a:buClr>
              <a:buSzPts val="1500"/>
              <a:buFont typeface="Arial"/>
              <a:buNone/>
            </a:pPr>
            <a:endParaRPr sz="1500" b="0" i="0" u="none" strike="noStrike" cap="none" dirty="0">
              <a:solidFill>
                <a:srgbClr val="595959"/>
              </a:solidFill>
              <a:latin typeface="Helvetica Neue Light"/>
              <a:ea typeface="Helvetica Neue Light"/>
              <a:cs typeface="Helvetica Neue Light"/>
              <a:sym typeface="Helvetica Neue Light"/>
            </a:endParaRPr>
          </a:p>
        </p:txBody>
      </p:sp>
      <p:sp>
        <p:nvSpPr>
          <p:cNvPr id="78" name="Google Shape;78;g3a841a0f086_0_91"/>
          <p:cNvSpPr txBox="1"/>
          <p:nvPr/>
        </p:nvSpPr>
        <p:spPr>
          <a:xfrm>
            <a:off x="806250" y="894325"/>
            <a:ext cx="7531500" cy="50768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Problem Statement</a:t>
            </a:r>
          </a:p>
        </p:txBody>
      </p:sp>
      <p:sp>
        <p:nvSpPr>
          <p:cNvPr id="79" name="Google Shape;79;g3a841a0f086_0_91"/>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g3bb61f4e995_0_24"/>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85" name="Google Shape;85;g3bb61f4e995_0_24"/>
          <p:cNvSpPr txBox="1"/>
          <p:nvPr/>
        </p:nvSpPr>
        <p:spPr>
          <a:xfrm>
            <a:off x="740457" y="1085750"/>
            <a:ext cx="7360800" cy="4057750"/>
          </a:xfrm>
          <a:prstGeom prst="rect">
            <a:avLst/>
          </a:prstGeom>
          <a:noFill/>
          <a:ln>
            <a:noFill/>
          </a:ln>
        </p:spPr>
        <p:txBody>
          <a:bodyPr spcFirstLastPara="1" wrap="square" lIns="91425" tIns="91425" rIns="91425" bIns="91425" anchor="t" anchorCtr="0">
            <a:noAutofit/>
          </a:bodyPr>
          <a:lstStyle/>
          <a:p>
            <a:pPr marL="285750" marR="0" lvl="0" indent="-285750" algn="l" rtl="0">
              <a:lnSpc>
                <a:spcPct val="150000"/>
              </a:lnSpc>
              <a:spcBef>
                <a:spcPts val="0"/>
              </a:spcBef>
              <a:spcAft>
                <a:spcPts val="0"/>
              </a:spcAft>
              <a:buFont typeface="Arial" panose="020B0604020202020204" pitchFamily="34" charset="0"/>
              <a:buChar char="•"/>
            </a:pPr>
            <a:r>
              <a:rPr lang="en-US" sz="1500" dirty="0">
                <a:solidFill>
                  <a:schemeClr val="tx1"/>
                </a:solidFill>
                <a:latin typeface="Helvetica Neue"/>
                <a:ea typeface="Helvetica Neue"/>
                <a:cs typeface="Helvetica Neue"/>
                <a:sym typeface="Helvetica Neue"/>
              </a:rPr>
              <a:t>Loan default prediction is an important task for financial institutions to identify borrowers who may fail to repay loan.</a:t>
            </a:r>
          </a:p>
          <a:p>
            <a:pPr marL="285750" marR="0" lvl="0" indent="-285750" algn="l" rtl="0">
              <a:lnSpc>
                <a:spcPct val="150000"/>
              </a:lnSpc>
              <a:spcBef>
                <a:spcPts val="0"/>
              </a:spcBef>
              <a:spcAft>
                <a:spcPts val="0"/>
              </a:spcAft>
              <a:buFont typeface="Arial" panose="020B0604020202020204" pitchFamily="34" charset="0"/>
              <a:buChar char="•"/>
            </a:pPr>
            <a:r>
              <a:rPr lang="en-US" sz="1500" dirty="0">
                <a:solidFill>
                  <a:schemeClr val="tx1"/>
                </a:solidFill>
                <a:latin typeface="Helvetica Neue"/>
                <a:ea typeface="Helvetica Neue"/>
                <a:cs typeface="Helvetica Neue"/>
                <a:sym typeface="Helvetica Neue"/>
              </a:rPr>
              <a:t>Traditional credit scoring methods rely on limited borrower financial history.</a:t>
            </a:r>
          </a:p>
          <a:p>
            <a:pPr marL="285750" marR="0" lvl="0" indent="-285750" algn="l" rtl="0">
              <a:lnSpc>
                <a:spcPct val="150000"/>
              </a:lnSpc>
              <a:spcBef>
                <a:spcPts val="0"/>
              </a:spcBef>
              <a:spcAft>
                <a:spcPts val="0"/>
              </a:spcAft>
              <a:buFont typeface="Arial" panose="020B0604020202020204" pitchFamily="34" charset="0"/>
              <a:buChar char="•"/>
            </a:pPr>
            <a:r>
              <a:rPr lang="en-US" sz="1500" dirty="0">
                <a:solidFill>
                  <a:schemeClr val="tx1"/>
                </a:solidFill>
                <a:latin typeface="Helvetica Neue"/>
                <a:ea typeface="Helvetica Neue"/>
                <a:cs typeface="Helvetica Neue"/>
                <a:sym typeface="Helvetica Neue"/>
              </a:rPr>
              <a:t>These methods may not accurately capture real repayment risk.</a:t>
            </a:r>
          </a:p>
          <a:p>
            <a:pPr marL="285750" marR="0" lvl="0" indent="-285750" algn="l" rtl="0">
              <a:lnSpc>
                <a:spcPct val="150000"/>
              </a:lnSpc>
              <a:spcBef>
                <a:spcPts val="0"/>
              </a:spcBef>
              <a:spcAft>
                <a:spcPts val="0"/>
              </a:spcAft>
              <a:buFont typeface="Arial" panose="020B0604020202020204" pitchFamily="34" charset="0"/>
              <a:buChar char="•"/>
            </a:pPr>
            <a:r>
              <a:rPr lang="en-US" sz="1500" dirty="0">
                <a:solidFill>
                  <a:schemeClr val="tx1"/>
                </a:solidFill>
                <a:latin typeface="Helvetica Neue"/>
                <a:ea typeface="Helvetica Neue"/>
                <a:cs typeface="Helvetica Neue"/>
                <a:sym typeface="Helvetica Neue"/>
              </a:rPr>
              <a:t>Machine learning helps analyze large borrower datasets efficiently.</a:t>
            </a:r>
          </a:p>
          <a:p>
            <a:pPr marL="285750" marR="0" lvl="0" indent="-285750" algn="l" rtl="0">
              <a:lnSpc>
                <a:spcPct val="150000"/>
              </a:lnSpc>
              <a:spcBef>
                <a:spcPts val="0"/>
              </a:spcBef>
              <a:spcAft>
                <a:spcPts val="0"/>
              </a:spcAft>
              <a:buFont typeface="Arial" panose="020B0604020202020204" pitchFamily="34" charset="0"/>
              <a:buChar char="•"/>
            </a:pPr>
            <a:r>
              <a:rPr lang="en-US" sz="1500" dirty="0">
                <a:solidFill>
                  <a:schemeClr val="tx1"/>
                </a:solidFill>
                <a:latin typeface="Helvetica Neue"/>
                <a:ea typeface="Helvetica Neue"/>
                <a:cs typeface="Helvetica Neue"/>
                <a:sym typeface="Helvetica Neue"/>
              </a:rPr>
              <a:t>It improves decision-making by predicting potential defaults early.</a:t>
            </a:r>
          </a:p>
          <a:p>
            <a:pPr marL="285750" marR="0" lvl="0" indent="-285750" algn="l" rtl="0">
              <a:lnSpc>
                <a:spcPct val="150000"/>
              </a:lnSpc>
              <a:spcBef>
                <a:spcPts val="0"/>
              </a:spcBef>
              <a:spcAft>
                <a:spcPts val="0"/>
              </a:spcAft>
              <a:buFont typeface="Arial" panose="020B0604020202020204" pitchFamily="34" charset="0"/>
              <a:buChar char="•"/>
            </a:pPr>
            <a:r>
              <a:rPr lang="en-US" sz="1500" dirty="0">
                <a:solidFill>
                  <a:schemeClr val="tx1"/>
                </a:solidFill>
                <a:latin typeface="Helvetica Neue"/>
                <a:ea typeface="Helvetica Neue"/>
                <a:cs typeface="Helvetica Neue"/>
                <a:sym typeface="Helvetica Neue"/>
              </a:rPr>
              <a:t>This helps banks reduce losses and improve lending quality.</a:t>
            </a:r>
          </a:p>
          <a:p>
            <a:pPr marL="0" marR="0" lvl="0" indent="0" algn="l" rtl="0">
              <a:lnSpc>
                <a:spcPct val="115000"/>
              </a:lnSpc>
              <a:spcBef>
                <a:spcPts val="0"/>
              </a:spcBef>
              <a:spcAft>
                <a:spcPts val="0"/>
              </a:spcAft>
              <a:buNone/>
            </a:pPr>
            <a:endParaRPr lang="en-US" sz="1100" dirty="0">
              <a:solidFill>
                <a:srgbClr val="595959"/>
              </a:solidFill>
              <a:latin typeface="Helvetica Neue"/>
              <a:ea typeface="Helvetica Neue"/>
              <a:cs typeface="Helvetica Neue"/>
              <a:sym typeface="Helvetica Neue"/>
            </a:endParaRPr>
          </a:p>
          <a:p>
            <a:pPr marL="0" marR="0" lvl="0" indent="0" algn="l" rtl="0">
              <a:lnSpc>
                <a:spcPct val="115000"/>
              </a:lnSpc>
              <a:spcBef>
                <a:spcPts val="0"/>
              </a:spcBef>
              <a:spcAft>
                <a:spcPts val="0"/>
              </a:spcAft>
              <a:buNone/>
            </a:pPr>
            <a:r>
              <a:rPr lang="en-GB" sz="1600" b="1" dirty="0">
                <a:solidFill>
                  <a:srgbClr val="002060"/>
                </a:solidFill>
                <a:latin typeface="Helvetica Neue"/>
                <a:ea typeface="Helvetica Neue"/>
                <a:cs typeface="Helvetica Neue"/>
                <a:sym typeface="Helvetica Neue"/>
              </a:rPr>
              <a:t>Problem Area:</a:t>
            </a:r>
            <a:endParaRPr sz="1600" b="1" dirty="0">
              <a:solidFill>
                <a:srgbClr val="002060"/>
              </a:solidFill>
              <a:latin typeface="Helvetica Neue"/>
              <a:ea typeface="Helvetica Neue"/>
              <a:cs typeface="Helvetica Neue"/>
              <a:sym typeface="Helvetica Neue"/>
            </a:endParaRPr>
          </a:p>
          <a:p>
            <a:pPr marL="285750" lvl="0" indent="-285750">
              <a:lnSpc>
                <a:spcPct val="150000"/>
              </a:lnSpc>
              <a:buFont typeface="Arial" panose="020B0604020202020204" pitchFamily="34" charset="0"/>
              <a:buChar char="•"/>
            </a:pPr>
            <a:r>
              <a:rPr lang="en-GB" sz="1500" b="1" dirty="0">
                <a:solidFill>
                  <a:schemeClr val="tx1"/>
                </a:solidFill>
                <a:latin typeface="Helvetica Neue"/>
                <a:ea typeface="Helvetica Neue"/>
                <a:cs typeface="Helvetica Neue"/>
                <a:sym typeface="Helvetica Neue"/>
              </a:rPr>
              <a:t>Who Faces This Problem? - </a:t>
            </a:r>
            <a:r>
              <a:rPr lang="en-IN" sz="1500" dirty="0">
                <a:solidFill>
                  <a:schemeClr val="tx1"/>
                </a:solidFill>
                <a:latin typeface="Helvetica Neue Light" panose="020B0604020202020204" charset="0"/>
              </a:rPr>
              <a:t>Banks, NBFCs, microfinance institutions.</a:t>
            </a:r>
            <a:endParaRPr sz="1500" b="1" dirty="0">
              <a:solidFill>
                <a:schemeClr val="tx1"/>
              </a:solidFill>
              <a:latin typeface="Helvetica Neue Light" panose="020B0604020202020204" charset="0"/>
              <a:ea typeface="Helvetica Neue"/>
              <a:cs typeface="Helvetica Neue"/>
              <a:sym typeface="Helvetica Neue"/>
            </a:endParaRPr>
          </a:p>
          <a:p>
            <a:pPr marL="285750" lvl="0" indent="-285750">
              <a:lnSpc>
                <a:spcPct val="150000"/>
              </a:lnSpc>
              <a:buFont typeface="Arial" panose="020B0604020202020204" pitchFamily="34" charset="0"/>
              <a:buChar char="•"/>
            </a:pPr>
            <a:r>
              <a:rPr lang="en-GB" sz="1500" b="1" dirty="0">
                <a:solidFill>
                  <a:schemeClr val="tx1"/>
                </a:solidFill>
                <a:latin typeface="Helvetica Neue"/>
                <a:ea typeface="Helvetica Neue"/>
                <a:cs typeface="Helvetica Neue"/>
                <a:sym typeface="Helvetica Neue"/>
              </a:rPr>
              <a:t>Where Does It Occur? - </a:t>
            </a:r>
            <a:r>
              <a:rPr lang="en-US" sz="1500" dirty="0">
                <a:solidFill>
                  <a:schemeClr val="tx1"/>
                </a:solidFill>
                <a:latin typeface="Helvetica Neue Light" panose="020B0604020202020204" charset="0"/>
              </a:rPr>
              <a:t>Loan approval and risk assessment departments.</a:t>
            </a:r>
            <a:endParaRPr sz="1500" b="1" dirty="0">
              <a:solidFill>
                <a:schemeClr val="tx1"/>
              </a:solidFill>
              <a:latin typeface="Helvetica Neue Light" panose="020B0604020202020204" charset="0"/>
              <a:ea typeface="Helvetica Neue"/>
              <a:cs typeface="Helvetica Neue"/>
              <a:sym typeface="Helvetica Neue"/>
            </a:endParaRPr>
          </a:p>
          <a:p>
            <a:pPr marL="285750" lvl="0" indent="-285750">
              <a:lnSpc>
                <a:spcPct val="150000"/>
              </a:lnSpc>
              <a:buFont typeface="Arial" panose="020B0604020202020204" pitchFamily="34" charset="0"/>
              <a:buChar char="•"/>
            </a:pPr>
            <a:r>
              <a:rPr lang="en-GB" sz="1500" b="1" dirty="0">
                <a:solidFill>
                  <a:schemeClr val="tx1"/>
                </a:solidFill>
                <a:latin typeface="Helvetica Neue"/>
                <a:ea typeface="Helvetica Neue"/>
                <a:cs typeface="Helvetica Neue"/>
                <a:sym typeface="Helvetica Neue"/>
              </a:rPr>
              <a:t>Why Is It Important? - </a:t>
            </a:r>
            <a:r>
              <a:rPr lang="en-US" sz="1500" dirty="0">
                <a:solidFill>
                  <a:schemeClr val="tx1"/>
                </a:solidFill>
                <a:latin typeface="Helvetica Neue Light" panose="020B0604020202020204" charset="0"/>
              </a:rPr>
              <a:t>Prevents bad loans and reduces financial losses.</a:t>
            </a:r>
            <a:endParaRPr sz="1500" b="1" dirty="0">
              <a:solidFill>
                <a:schemeClr val="tx1"/>
              </a:solidFill>
              <a:latin typeface="Helvetica Neue Light" panose="020B0604020202020204" charset="0"/>
              <a:ea typeface="Helvetica Neue"/>
              <a:cs typeface="Helvetica Neue"/>
              <a:sym typeface="Helvetica Neue"/>
            </a:endParaRPr>
          </a:p>
          <a:p>
            <a:pPr marL="0" marR="0" lvl="0" indent="0" algn="l" rtl="0">
              <a:lnSpc>
                <a:spcPct val="115000"/>
              </a:lnSpc>
              <a:spcBef>
                <a:spcPts val="0"/>
              </a:spcBef>
              <a:spcAft>
                <a:spcPts val="0"/>
              </a:spcAft>
              <a:buNone/>
            </a:pPr>
            <a:endParaRPr sz="1500" b="1" dirty="0">
              <a:solidFill>
                <a:srgbClr val="595959"/>
              </a:solidFill>
              <a:latin typeface="Helvetica Neue"/>
              <a:ea typeface="Helvetica Neue"/>
              <a:cs typeface="Helvetica Neue"/>
              <a:sym typeface="Helvetica Neue"/>
            </a:endParaRPr>
          </a:p>
        </p:txBody>
      </p:sp>
      <p:sp>
        <p:nvSpPr>
          <p:cNvPr id="86" name="Google Shape;86;g3bb61f4e995_0_24"/>
          <p:cNvSpPr txBox="1"/>
          <p:nvPr/>
        </p:nvSpPr>
        <p:spPr>
          <a:xfrm>
            <a:off x="806250" y="656875"/>
            <a:ext cx="7531500" cy="474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Introduction</a:t>
            </a:r>
            <a:endParaRPr sz="3100" b="1" i="0" u="none" strike="noStrike" cap="none" dirty="0">
              <a:solidFill>
                <a:srgbClr val="09134D"/>
              </a:solidFill>
              <a:latin typeface="Helvetica Neue"/>
              <a:ea typeface="Helvetica Neue"/>
              <a:cs typeface="Helvetica Neue"/>
              <a:sym typeface="Helvetica Neue"/>
            </a:endParaRPr>
          </a:p>
        </p:txBody>
      </p:sp>
      <p:sp>
        <p:nvSpPr>
          <p:cNvPr id="87" name="Google Shape;87;g3bb61f4e995_0_24"/>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GB"/>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g3a9938ca1de_0_0"/>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93" name="Google Shape;93;g3a9938ca1de_0_0"/>
          <p:cNvSpPr txBox="1"/>
          <p:nvPr/>
        </p:nvSpPr>
        <p:spPr>
          <a:xfrm>
            <a:off x="438615" y="1424761"/>
            <a:ext cx="8214731" cy="2998556"/>
          </a:xfrm>
          <a:prstGeom prst="rect">
            <a:avLst/>
          </a:prstGeom>
          <a:noFill/>
          <a:ln>
            <a:noFill/>
          </a:ln>
        </p:spPr>
        <p:txBody>
          <a:bodyPr spcFirstLastPara="1" wrap="square" lIns="91425" tIns="91425" rIns="91425" bIns="91425" anchor="t" anchorCtr="0">
            <a:noAutofit/>
          </a:bodyPr>
          <a:lstStyle/>
          <a:p>
            <a:pPr marL="342900" marR="0" lvl="0" indent="-342900" algn="l" rtl="0">
              <a:lnSpc>
                <a:spcPct val="150000"/>
              </a:lnSpc>
              <a:spcBef>
                <a:spcPts val="0"/>
              </a:spcBef>
              <a:spcAft>
                <a:spcPts val="0"/>
              </a:spcAft>
              <a:buClr>
                <a:srgbClr val="000000"/>
              </a:buClr>
              <a:buSzPts val="1500"/>
              <a:buFont typeface="+mj-lt"/>
              <a:buAutoNum type="arabicPeriod"/>
            </a:pPr>
            <a:r>
              <a:rPr lang="en-US" sz="1500" b="1" dirty="0">
                <a:solidFill>
                  <a:schemeClr val="tx1"/>
                </a:solidFill>
                <a:latin typeface="Helvetica Neue Light"/>
                <a:ea typeface="Helvetica Neue Light"/>
                <a:cs typeface="Times New Roman" panose="02020603050405020304" pitchFamily="18" charset="0"/>
                <a:sym typeface="Helvetica Neue Light"/>
              </a:rPr>
              <a:t>Specific:</a:t>
            </a:r>
            <a:r>
              <a:rPr lang="en-US" sz="1500" dirty="0">
                <a:solidFill>
                  <a:schemeClr val="tx1"/>
                </a:solidFill>
                <a:latin typeface="Helvetica Neue Light"/>
                <a:ea typeface="Helvetica Neue Light"/>
                <a:cs typeface="Times New Roman" panose="02020603050405020304" pitchFamily="18" charset="0"/>
                <a:sym typeface="Helvetica Neue Light"/>
              </a:rPr>
              <a:t> Build a machine learning model to classify borrowers into default / non-default categories.</a:t>
            </a:r>
            <a:endParaRPr sz="1500" dirty="0">
              <a:solidFill>
                <a:schemeClr val="tx1"/>
              </a:solidFill>
              <a:latin typeface="Helvetica Neue Light"/>
              <a:ea typeface="Helvetica Neue Light"/>
              <a:cs typeface="Times New Roman" panose="02020603050405020304" pitchFamily="18" charset="0"/>
              <a:sym typeface="Helvetica Neue Light"/>
            </a:endParaRPr>
          </a:p>
          <a:p>
            <a:pPr marL="342900" marR="0" lvl="0" indent="-342900" algn="l" rtl="0">
              <a:lnSpc>
                <a:spcPct val="150000"/>
              </a:lnSpc>
              <a:spcBef>
                <a:spcPts val="0"/>
              </a:spcBef>
              <a:spcAft>
                <a:spcPts val="0"/>
              </a:spcAft>
              <a:buClr>
                <a:srgbClr val="000000"/>
              </a:buClr>
              <a:buSzPts val="1500"/>
              <a:buFont typeface="+mj-lt"/>
              <a:buAutoNum type="arabicPeriod"/>
            </a:pPr>
            <a:r>
              <a:rPr lang="en-GB" sz="1500" b="1" dirty="0">
                <a:solidFill>
                  <a:schemeClr val="tx1"/>
                </a:solidFill>
                <a:latin typeface="Helvetica Neue Light"/>
                <a:ea typeface="Helvetica Neue Light"/>
                <a:cs typeface="Times New Roman" panose="02020603050405020304" pitchFamily="18" charset="0"/>
                <a:sym typeface="Helvetica Neue Light"/>
              </a:rPr>
              <a:t>Measurable: </a:t>
            </a:r>
            <a:r>
              <a:rPr lang="en-US" sz="1500" dirty="0">
                <a:solidFill>
                  <a:schemeClr val="tx1"/>
                </a:solidFill>
                <a:latin typeface="Helvetica Neue Light"/>
                <a:ea typeface="Helvetica Neue Light"/>
                <a:cs typeface="Times New Roman" panose="02020603050405020304" pitchFamily="18" charset="0"/>
                <a:sym typeface="Helvetica Neue Light"/>
              </a:rPr>
              <a:t>Achieve high prediction accuracy above baseline traditional scoring methods.</a:t>
            </a:r>
            <a:endParaRPr lang="en-GB" sz="1500" dirty="0">
              <a:solidFill>
                <a:schemeClr val="tx1"/>
              </a:solidFill>
              <a:latin typeface="Helvetica Neue Light"/>
              <a:ea typeface="Helvetica Neue Light"/>
              <a:cs typeface="Times New Roman" panose="02020603050405020304" pitchFamily="18" charset="0"/>
              <a:sym typeface="Helvetica Neue Light"/>
            </a:endParaRPr>
          </a:p>
          <a:p>
            <a:pPr marL="342900" marR="0" lvl="0" indent="-342900" algn="l" rtl="0">
              <a:lnSpc>
                <a:spcPct val="150000"/>
              </a:lnSpc>
              <a:spcBef>
                <a:spcPts val="0"/>
              </a:spcBef>
              <a:spcAft>
                <a:spcPts val="0"/>
              </a:spcAft>
              <a:buClr>
                <a:srgbClr val="000000"/>
              </a:buClr>
              <a:buSzPts val="1500"/>
              <a:buFont typeface="+mj-lt"/>
              <a:buAutoNum type="arabicPeriod"/>
            </a:pPr>
            <a:r>
              <a:rPr lang="en-GB" sz="1500" b="1" dirty="0">
                <a:solidFill>
                  <a:schemeClr val="tx1"/>
                </a:solidFill>
                <a:latin typeface="Helvetica Neue Light"/>
                <a:ea typeface="Helvetica Neue Light"/>
                <a:cs typeface="Times New Roman" panose="02020603050405020304" pitchFamily="18" charset="0"/>
                <a:sym typeface="Helvetica Neue Light"/>
              </a:rPr>
              <a:t>Achievable:</a:t>
            </a:r>
            <a:r>
              <a:rPr lang="en-GB" sz="1500" dirty="0">
                <a:solidFill>
                  <a:schemeClr val="tx1"/>
                </a:solidFill>
                <a:latin typeface="Helvetica Neue Light"/>
                <a:ea typeface="Helvetica Neue Light"/>
                <a:cs typeface="Times New Roman" panose="02020603050405020304" pitchFamily="18" charset="0"/>
                <a:sym typeface="Helvetica Neue Light"/>
              </a:rPr>
              <a:t> </a:t>
            </a:r>
            <a:r>
              <a:rPr lang="en-US" sz="1500" dirty="0">
                <a:solidFill>
                  <a:schemeClr val="tx1"/>
                </a:solidFill>
                <a:latin typeface="Helvetica Neue Light"/>
                <a:ea typeface="Helvetica Neue Light"/>
                <a:cs typeface="Times New Roman" panose="02020603050405020304" pitchFamily="18" charset="0"/>
                <a:sym typeface="Helvetica Neue Light"/>
              </a:rPr>
              <a:t>Use borrower dataset with preprocessing, feature engineering, and ML algorithms.</a:t>
            </a:r>
            <a:endParaRPr sz="1500" dirty="0">
              <a:solidFill>
                <a:schemeClr val="tx1"/>
              </a:solidFill>
              <a:latin typeface="Helvetica Neue Light"/>
              <a:ea typeface="Helvetica Neue Light"/>
              <a:cs typeface="Times New Roman" panose="02020603050405020304" pitchFamily="18" charset="0"/>
              <a:sym typeface="Helvetica Neue Light"/>
            </a:endParaRPr>
          </a:p>
          <a:p>
            <a:pPr marL="342900" marR="0" lvl="0" indent="-342900" algn="l" rtl="0">
              <a:lnSpc>
                <a:spcPct val="150000"/>
              </a:lnSpc>
              <a:spcBef>
                <a:spcPts val="0"/>
              </a:spcBef>
              <a:spcAft>
                <a:spcPts val="0"/>
              </a:spcAft>
              <a:buClr>
                <a:srgbClr val="000000"/>
              </a:buClr>
              <a:buSzPts val="1500"/>
              <a:buFont typeface="+mj-lt"/>
              <a:buAutoNum type="arabicPeriod"/>
            </a:pPr>
            <a:r>
              <a:rPr lang="en-GB" sz="1500" b="1" dirty="0">
                <a:solidFill>
                  <a:schemeClr val="tx1"/>
                </a:solidFill>
                <a:latin typeface="Helvetica Neue Light"/>
                <a:ea typeface="Helvetica Neue Light"/>
                <a:cs typeface="Times New Roman" panose="02020603050405020304" pitchFamily="18" charset="0"/>
                <a:sym typeface="Helvetica Neue Light"/>
              </a:rPr>
              <a:t>Relevant: </a:t>
            </a:r>
            <a:r>
              <a:rPr lang="en-US" sz="1500" dirty="0">
                <a:solidFill>
                  <a:schemeClr val="tx1"/>
                </a:solidFill>
                <a:latin typeface="Helvetica Neue Light"/>
                <a:ea typeface="Helvetica Neue Light"/>
                <a:cs typeface="Times New Roman" panose="02020603050405020304" pitchFamily="18" charset="0"/>
                <a:sym typeface="Helvetica Neue Light"/>
              </a:rPr>
              <a:t>Supports banks in credit risk assessment and safer lending.</a:t>
            </a:r>
            <a:endParaRPr dirty="0">
              <a:solidFill>
                <a:schemeClr val="tx1"/>
              </a:solidFill>
            </a:endParaRPr>
          </a:p>
          <a:p>
            <a:pPr marL="342900" marR="0" lvl="0" indent="-342900" algn="l" rtl="0">
              <a:lnSpc>
                <a:spcPct val="150000"/>
              </a:lnSpc>
              <a:spcBef>
                <a:spcPts val="0"/>
              </a:spcBef>
              <a:spcAft>
                <a:spcPts val="0"/>
              </a:spcAft>
              <a:buClr>
                <a:srgbClr val="000000"/>
              </a:buClr>
              <a:buSzPts val="1500"/>
              <a:buFont typeface="+mj-lt"/>
              <a:buAutoNum type="arabicPeriod"/>
            </a:pPr>
            <a:r>
              <a:rPr lang="en-GB" sz="1500" b="1" dirty="0">
                <a:solidFill>
                  <a:schemeClr val="tx1"/>
                </a:solidFill>
                <a:latin typeface="Helvetica Neue Light"/>
                <a:ea typeface="Helvetica Neue Light"/>
                <a:cs typeface="Times New Roman" panose="02020603050405020304" pitchFamily="18" charset="0"/>
                <a:sym typeface="Helvetica Neue Light"/>
              </a:rPr>
              <a:t>Time Bound: </a:t>
            </a:r>
            <a:r>
              <a:rPr lang="en-US" sz="1500" dirty="0">
                <a:solidFill>
                  <a:schemeClr val="tx1"/>
                </a:solidFill>
                <a:latin typeface="Helvetica Neue Light"/>
                <a:ea typeface="Helvetica Neue Light"/>
                <a:cs typeface="Times New Roman" panose="02020603050405020304" pitchFamily="18" charset="0"/>
                <a:sym typeface="Helvetica Neue Light"/>
              </a:rPr>
              <a:t>Complete model building, testing, and deployment prototype within project timeline.</a:t>
            </a:r>
            <a:endParaRPr sz="1500" dirty="0">
              <a:solidFill>
                <a:schemeClr val="tx1"/>
              </a:solidFill>
              <a:latin typeface="Helvetica Neue Light"/>
              <a:ea typeface="Helvetica Neue Light"/>
              <a:cs typeface="Times New Roman" panose="02020603050405020304" pitchFamily="18" charset="0"/>
              <a:sym typeface="Helvetica Neue Light"/>
            </a:endParaRPr>
          </a:p>
          <a:p>
            <a:pPr marL="0" marR="0" lvl="0" indent="0" algn="l" rtl="0">
              <a:lnSpc>
                <a:spcPct val="115000"/>
              </a:lnSpc>
              <a:spcBef>
                <a:spcPts val="0"/>
              </a:spcBef>
              <a:spcAft>
                <a:spcPts val="0"/>
              </a:spcAft>
              <a:buClr>
                <a:srgbClr val="000000"/>
              </a:buClr>
              <a:buSzPts val="1500"/>
              <a:buFont typeface="Arial"/>
              <a:buNone/>
            </a:pPr>
            <a:endParaRPr sz="1500" b="0" i="0" u="none" strike="noStrike" cap="none" dirty="0">
              <a:solidFill>
                <a:srgbClr val="595959"/>
              </a:solidFill>
              <a:latin typeface="Helvetica Neue Light"/>
              <a:ea typeface="Helvetica Neue Light"/>
              <a:cs typeface="Helvetica Neue Light"/>
              <a:sym typeface="Helvetica Neue Light"/>
            </a:endParaRPr>
          </a:p>
        </p:txBody>
      </p:sp>
      <p:sp>
        <p:nvSpPr>
          <p:cNvPr id="94" name="Google Shape;94;g3a9938ca1de_0_0"/>
          <p:cNvSpPr txBox="1"/>
          <p:nvPr/>
        </p:nvSpPr>
        <p:spPr>
          <a:xfrm>
            <a:off x="751981" y="695900"/>
            <a:ext cx="6344700" cy="5299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Objectives (SMART)</a:t>
            </a:r>
            <a:endParaRPr sz="3100" b="1" i="0" u="none" strike="noStrike" cap="none" dirty="0">
              <a:solidFill>
                <a:srgbClr val="09134D"/>
              </a:solidFill>
              <a:latin typeface="Helvetica Neue"/>
              <a:ea typeface="Helvetica Neue"/>
              <a:cs typeface="Helvetica Neue"/>
              <a:sym typeface="Helvetica Neue"/>
            </a:endParaRPr>
          </a:p>
        </p:txBody>
      </p:sp>
      <p:sp>
        <p:nvSpPr>
          <p:cNvPr id="95" name="Google Shape;95;g3a9938ca1de_0_0"/>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GB"/>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g3a841a0f086_0_105"/>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102" name="Google Shape;102;g3a841a0f086_0_105"/>
          <p:cNvSpPr txBox="1"/>
          <p:nvPr/>
        </p:nvSpPr>
        <p:spPr>
          <a:xfrm>
            <a:off x="802391" y="899105"/>
            <a:ext cx="5604000" cy="5208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5W1H Analysis</a:t>
            </a:r>
            <a:endParaRPr sz="3100" b="1" i="0" u="none" strike="noStrike" cap="none" dirty="0">
              <a:solidFill>
                <a:srgbClr val="09134D"/>
              </a:solidFill>
              <a:latin typeface="Helvetica Neue"/>
              <a:ea typeface="Helvetica Neue"/>
              <a:cs typeface="Helvetica Neue"/>
              <a:sym typeface="Helvetica Neue"/>
            </a:endParaRPr>
          </a:p>
        </p:txBody>
      </p:sp>
      <p:sp>
        <p:nvSpPr>
          <p:cNvPr id="103" name="Google Shape;103;g3a841a0f086_0_105"/>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GB"/>
              <a:t>6</a:t>
            </a:fld>
            <a:endParaRPr/>
          </a:p>
        </p:txBody>
      </p:sp>
      <p:graphicFrame>
        <p:nvGraphicFramePr>
          <p:cNvPr id="4" name="Table 3">
            <a:extLst>
              <a:ext uri="{FF2B5EF4-FFF2-40B4-BE49-F238E27FC236}">
                <a16:creationId xmlns:a16="http://schemas.microsoft.com/office/drawing/2014/main" id="{53A327C1-EF86-0986-4E15-3248C8983B13}"/>
              </a:ext>
            </a:extLst>
          </p:cNvPr>
          <p:cNvGraphicFramePr>
            <a:graphicFrameLocks noGrp="1"/>
          </p:cNvGraphicFramePr>
          <p:nvPr>
            <p:extLst>
              <p:ext uri="{D42A27DB-BD31-4B8C-83A1-F6EECF244321}">
                <p14:modId xmlns:p14="http://schemas.microsoft.com/office/powerpoint/2010/main" val="2806394743"/>
              </p:ext>
            </p:extLst>
          </p:nvPr>
        </p:nvGraphicFramePr>
        <p:xfrm>
          <a:off x="1471961" y="1648515"/>
          <a:ext cx="6096000" cy="2595880"/>
        </p:xfrm>
        <a:graphic>
          <a:graphicData uri="http://schemas.openxmlformats.org/drawingml/2006/table">
            <a:tbl>
              <a:tblPr firstRow="1" bandRow="1">
                <a:tableStyleId>{F243F2E9-EE5A-4B70-8657-BDC805B4E44C}</a:tableStyleId>
              </a:tblPr>
              <a:tblGrid>
                <a:gridCol w="1419922">
                  <a:extLst>
                    <a:ext uri="{9D8B030D-6E8A-4147-A177-3AD203B41FA5}">
                      <a16:colId xmlns:a16="http://schemas.microsoft.com/office/drawing/2014/main" val="1823939067"/>
                    </a:ext>
                  </a:extLst>
                </a:gridCol>
                <a:gridCol w="4676078">
                  <a:extLst>
                    <a:ext uri="{9D8B030D-6E8A-4147-A177-3AD203B41FA5}">
                      <a16:colId xmlns:a16="http://schemas.microsoft.com/office/drawing/2014/main" val="3674875921"/>
                    </a:ext>
                  </a:extLst>
                </a:gridCol>
              </a:tblGrid>
              <a:tr h="370840">
                <a:tc>
                  <a:txBody>
                    <a:bodyPr/>
                    <a:lstStyle/>
                    <a:p>
                      <a:r>
                        <a:rPr lang="en-IN" sz="1500" b="1" dirty="0">
                          <a:solidFill>
                            <a:schemeClr val="tx1"/>
                          </a:solidFill>
                          <a:latin typeface="Helvetica Neue Light" panose="020B0604020202020204" charset="0"/>
                        </a:rPr>
                        <a:t>Factor</a:t>
                      </a:r>
                    </a:p>
                  </a:txBody>
                  <a:tcPr/>
                </a:tc>
                <a:tc>
                  <a:txBody>
                    <a:bodyPr/>
                    <a:lstStyle/>
                    <a:p>
                      <a:pPr algn="l"/>
                      <a:r>
                        <a:rPr lang="en-IN" sz="1500" b="1" dirty="0">
                          <a:solidFill>
                            <a:schemeClr val="tx1"/>
                          </a:solidFill>
                          <a:latin typeface="Helvetica Neue Light" panose="020B0604020202020204" charset="0"/>
                        </a:rPr>
                        <a:t>Content</a:t>
                      </a:r>
                    </a:p>
                  </a:txBody>
                  <a:tcPr/>
                </a:tc>
                <a:extLst>
                  <a:ext uri="{0D108BD9-81ED-4DB2-BD59-A6C34878D82A}">
                    <a16:rowId xmlns:a16="http://schemas.microsoft.com/office/drawing/2014/main" val="1242063919"/>
                  </a:ext>
                </a:extLst>
              </a:tr>
              <a:tr h="370840">
                <a:tc>
                  <a:txBody>
                    <a:bodyPr/>
                    <a:lstStyle/>
                    <a:p>
                      <a:r>
                        <a:rPr lang="en-IN" sz="1500" dirty="0">
                          <a:solidFill>
                            <a:schemeClr val="tx1"/>
                          </a:solidFill>
                          <a:latin typeface="Helvetica Neue Light" panose="020B0604020202020204" charset="0"/>
                        </a:rPr>
                        <a:t>WHO</a:t>
                      </a:r>
                    </a:p>
                  </a:txBody>
                  <a:tcPr/>
                </a:tc>
                <a:tc>
                  <a:txBody>
                    <a:bodyPr/>
                    <a:lstStyle/>
                    <a:p>
                      <a:r>
                        <a:rPr lang="en-IN" sz="1500" dirty="0">
                          <a:solidFill>
                            <a:schemeClr val="tx1"/>
                          </a:solidFill>
                          <a:latin typeface="Helvetica Neue Light" panose="020B0604020202020204" charset="0"/>
                        </a:rPr>
                        <a:t>Banks, financial institutions, loan officers</a:t>
                      </a:r>
                    </a:p>
                  </a:txBody>
                  <a:tcPr/>
                </a:tc>
                <a:extLst>
                  <a:ext uri="{0D108BD9-81ED-4DB2-BD59-A6C34878D82A}">
                    <a16:rowId xmlns:a16="http://schemas.microsoft.com/office/drawing/2014/main" val="1711863452"/>
                  </a:ext>
                </a:extLst>
              </a:tr>
              <a:tr h="370840">
                <a:tc>
                  <a:txBody>
                    <a:bodyPr/>
                    <a:lstStyle/>
                    <a:p>
                      <a:r>
                        <a:rPr lang="en-IN" sz="1500" dirty="0">
                          <a:solidFill>
                            <a:schemeClr val="tx1"/>
                          </a:solidFill>
                          <a:latin typeface="Helvetica Neue Light" panose="020B0604020202020204" charset="0"/>
                        </a:rPr>
                        <a:t>WHY</a:t>
                      </a:r>
                    </a:p>
                  </a:txBody>
                  <a:tcPr/>
                </a:tc>
                <a:tc>
                  <a:txBody>
                    <a:bodyPr/>
                    <a:lstStyle/>
                    <a:p>
                      <a:r>
                        <a:rPr lang="en-US" sz="1500" dirty="0">
                          <a:solidFill>
                            <a:schemeClr val="tx1"/>
                          </a:solidFill>
                          <a:latin typeface="Helvetica Neue Light" panose="020B0604020202020204" charset="0"/>
                        </a:rPr>
                        <a:t>To identify risky borrowers before loan approval</a:t>
                      </a:r>
                      <a:endParaRPr lang="en-IN" sz="1500" dirty="0">
                        <a:solidFill>
                          <a:schemeClr val="tx1"/>
                        </a:solidFill>
                        <a:latin typeface="Helvetica Neue Light" panose="020B0604020202020204" charset="0"/>
                      </a:endParaRPr>
                    </a:p>
                  </a:txBody>
                  <a:tcPr/>
                </a:tc>
                <a:extLst>
                  <a:ext uri="{0D108BD9-81ED-4DB2-BD59-A6C34878D82A}">
                    <a16:rowId xmlns:a16="http://schemas.microsoft.com/office/drawing/2014/main" val="3115304777"/>
                  </a:ext>
                </a:extLst>
              </a:tr>
              <a:tr h="370840">
                <a:tc>
                  <a:txBody>
                    <a:bodyPr/>
                    <a:lstStyle/>
                    <a:p>
                      <a:r>
                        <a:rPr lang="en-IN" sz="1500" dirty="0">
                          <a:solidFill>
                            <a:schemeClr val="tx1"/>
                          </a:solidFill>
                          <a:latin typeface="Helvetica Neue Light" panose="020B0604020202020204" charset="0"/>
                        </a:rPr>
                        <a:t>HOW</a:t>
                      </a:r>
                    </a:p>
                  </a:txBody>
                  <a:tcPr/>
                </a:tc>
                <a:tc>
                  <a:txBody>
                    <a:bodyPr/>
                    <a:lstStyle/>
                    <a:p>
                      <a:r>
                        <a:rPr lang="en-US" sz="1500" dirty="0">
                          <a:solidFill>
                            <a:schemeClr val="tx1"/>
                          </a:solidFill>
                          <a:latin typeface="Helvetica Neue Light" panose="020B0604020202020204" charset="0"/>
                        </a:rPr>
                        <a:t>By analyzing borrower data using ML models</a:t>
                      </a:r>
                      <a:endParaRPr lang="en-IN" sz="1500" dirty="0">
                        <a:solidFill>
                          <a:schemeClr val="tx1"/>
                        </a:solidFill>
                        <a:latin typeface="Helvetica Neue Light" panose="020B0604020202020204" charset="0"/>
                      </a:endParaRPr>
                    </a:p>
                  </a:txBody>
                  <a:tcPr/>
                </a:tc>
                <a:extLst>
                  <a:ext uri="{0D108BD9-81ED-4DB2-BD59-A6C34878D82A}">
                    <a16:rowId xmlns:a16="http://schemas.microsoft.com/office/drawing/2014/main" val="1632558481"/>
                  </a:ext>
                </a:extLst>
              </a:tr>
              <a:tr h="370840">
                <a:tc>
                  <a:txBody>
                    <a:bodyPr/>
                    <a:lstStyle/>
                    <a:p>
                      <a:r>
                        <a:rPr lang="en-IN" sz="1500" dirty="0">
                          <a:solidFill>
                            <a:schemeClr val="tx1"/>
                          </a:solidFill>
                          <a:latin typeface="Helvetica Neue Light" panose="020B0604020202020204" charset="0"/>
                        </a:rPr>
                        <a:t>WHAT</a:t>
                      </a:r>
                    </a:p>
                  </a:txBody>
                  <a:tcPr/>
                </a:tc>
                <a:tc>
                  <a:txBody>
                    <a:bodyPr/>
                    <a:lstStyle/>
                    <a:p>
                      <a:r>
                        <a:rPr lang="en-IN" sz="1500" dirty="0">
                          <a:solidFill>
                            <a:schemeClr val="tx1"/>
                          </a:solidFill>
                          <a:latin typeface="Helvetica Neue Light" panose="020B0604020202020204" charset="0"/>
                        </a:rPr>
                        <a:t>Loan default prediction system</a:t>
                      </a:r>
                    </a:p>
                  </a:txBody>
                  <a:tcPr/>
                </a:tc>
                <a:extLst>
                  <a:ext uri="{0D108BD9-81ED-4DB2-BD59-A6C34878D82A}">
                    <a16:rowId xmlns:a16="http://schemas.microsoft.com/office/drawing/2014/main" val="718436295"/>
                  </a:ext>
                </a:extLst>
              </a:tr>
              <a:tr h="370840">
                <a:tc>
                  <a:txBody>
                    <a:bodyPr/>
                    <a:lstStyle/>
                    <a:p>
                      <a:r>
                        <a:rPr lang="en-IN" sz="1500" dirty="0">
                          <a:solidFill>
                            <a:schemeClr val="tx1"/>
                          </a:solidFill>
                          <a:latin typeface="Helvetica Neue Light" panose="020B0604020202020204" charset="0"/>
                        </a:rPr>
                        <a:t>WHERE</a:t>
                      </a:r>
                    </a:p>
                  </a:txBody>
                  <a:tcPr/>
                </a:tc>
                <a:tc>
                  <a:txBody>
                    <a:bodyPr/>
                    <a:lstStyle/>
                    <a:p>
                      <a:r>
                        <a:rPr lang="en-US" sz="1500" dirty="0">
                          <a:solidFill>
                            <a:schemeClr val="tx1"/>
                          </a:solidFill>
                          <a:latin typeface="Helvetica Neue Light" panose="020B0604020202020204" charset="0"/>
                        </a:rPr>
                        <a:t>Loan processing and risk management systems</a:t>
                      </a:r>
                      <a:endParaRPr lang="en-IN" sz="1500" dirty="0">
                        <a:solidFill>
                          <a:schemeClr val="tx1"/>
                        </a:solidFill>
                        <a:latin typeface="Helvetica Neue Light" panose="020B0604020202020204" charset="0"/>
                      </a:endParaRPr>
                    </a:p>
                  </a:txBody>
                  <a:tcPr/>
                </a:tc>
                <a:extLst>
                  <a:ext uri="{0D108BD9-81ED-4DB2-BD59-A6C34878D82A}">
                    <a16:rowId xmlns:a16="http://schemas.microsoft.com/office/drawing/2014/main" val="1961229960"/>
                  </a:ext>
                </a:extLst>
              </a:tr>
              <a:tr h="370840">
                <a:tc>
                  <a:txBody>
                    <a:bodyPr/>
                    <a:lstStyle/>
                    <a:p>
                      <a:r>
                        <a:rPr lang="en-IN" sz="1500" dirty="0">
                          <a:solidFill>
                            <a:schemeClr val="tx1"/>
                          </a:solidFill>
                          <a:latin typeface="Helvetica Neue Light" panose="020B0604020202020204" charset="0"/>
                        </a:rPr>
                        <a:t>WHEN</a:t>
                      </a:r>
                    </a:p>
                  </a:txBody>
                  <a:tcPr/>
                </a:tc>
                <a:tc>
                  <a:txBody>
                    <a:bodyPr/>
                    <a:lstStyle/>
                    <a:p>
                      <a:r>
                        <a:rPr lang="en-US" sz="1500" dirty="0">
                          <a:solidFill>
                            <a:schemeClr val="tx1"/>
                          </a:solidFill>
                          <a:latin typeface="Helvetica Neue Light" panose="020B0604020202020204" charset="0"/>
                        </a:rPr>
                        <a:t>During pre-loan approval and periodic risk review</a:t>
                      </a:r>
                      <a:endParaRPr lang="en-IN" sz="1500" dirty="0">
                        <a:solidFill>
                          <a:schemeClr val="tx1"/>
                        </a:solidFill>
                        <a:latin typeface="Helvetica Neue Light" panose="020B0604020202020204" charset="0"/>
                      </a:endParaRPr>
                    </a:p>
                  </a:txBody>
                  <a:tcPr/>
                </a:tc>
                <a:extLst>
                  <a:ext uri="{0D108BD9-81ED-4DB2-BD59-A6C34878D82A}">
                    <a16:rowId xmlns:a16="http://schemas.microsoft.com/office/drawing/2014/main" val="16931561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g3a928b83b57_0_92"/>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117" name="Google Shape;117;g3a928b83b57_0_92"/>
          <p:cNvSpPr txBox="1"/>
          <p:nvPr/>
        </p:nvSpPr>
        <p:spPr>
          <a:xfrm>
            <a:off x="811975" y="1914100"/>
            <a:ext cx="4182300" cy="223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200"/>
              </a:spcBef>
              <a:spcAft>
                <a:spcPts val="0"/>
              </a:spcAft>
              <a:buClr>
                <a:srgbClr val="000000"/>
              </a:buClr>
              <a:buSzPts val="1500"/>
              <a:buFont typeface="Arial"/>
              <a:buNone/>
            </a:pPr>
            <a:endParaRPr sz="1500" dirty="0">
              <a:solidFill>
                <a:srgbClr val="595959"/>
              </a:solidFill>
              <a:latin typeface="Helvetica Neue Light"/>
              <a:ea typeface="Helvetica Neue Light"/>
              <a:cs typeface="Helvetica Neue Light"/>
              <a:sym typeface="Helvetica Neue Light"/>
            </a:endParaRPr>
          </a:p>
        </p:txBody>
      </p:sp>
      <p:sp>
        <p:nvSpPr>
          <p:cNvPr id="118" name="Google Shape;118;g3a928b83b57_0_92"/>
          <p:cNvSpPr txBox="1"/>
          <p:nvPr/>
        </p:nvSpPr>
        <p:spPr>
          <a:xfrm>
            <a:off x="659575" y="590410"/>
            <a:ext cx="7160400" cy="949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Literature Insights</a:t>
            </a:r>
            <a:endParaRPr sz="3100" b="1" i="0" u="none" strike="noStrike" cap="none" dirty="0">
              <a:solidFill>
                <a:srgbClr val="09134D"/>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3100"/>
              <a:buFont typeface="Arial"/>
              <a:buNone/>
            </a:pPr>
            <a:endParaRPr sz="3100" b="1" i="0" u="none" strike="noStrike" cap="none" dirty="0">
              <a:solidFill>
                <a:srgbClr val="09134D"/>
              </a:solidFill>
              <a:latin typeface="Helvetica Neue"/>
              <a:ea typeface="Helvetica Neue"/>
              <a:cs typeface="Helvetica Neue"/>
              <a:sym typeface="Helvetica Neue"/>
            </a:endParaRPr>
          </a:p>
        </p:txBody>
      </p:sp>
      <p:sp>
        <p:nvSpPr>
          <p:cNvPr id="119" name="Google Shape;119;g3a928b83b57_0_92"/>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GB"/>
              <a:t>7</a:t>
            </a:fld>
            <a:endParaRPr/>
          </a:p>
        </p:txBody>
      </p:sp>
      <p:graphicFrame>
        <p:nvGraphicFramePr>
          <p:cNvPr id="3" name="Table 2">
            <a:extLst>
              <a:ext uri="{FF2B5EF4-FFF2-40B4-BE49-F238E27FC236}">
                <a16:creationId xmlns:a16="http://schemas.microsoft.com/office/drawing/2014/main" id="{2B4EA3B8-AC35-917E-9350-961BFB059ED9}"/>
              </a:ext>
            </a:extLst>
          </p:cNvPr>
          <p:cNvGraphicFramePr>
            <a:graphicFrameLocks noGrp="1"/>
          </p:cNvGraphicFramePr>
          <p:nvPr/>
        </p:nvGraphicFramePr>
        <p:xfrm>
          <a:off x="506607" y="1319862"/>
          <a:ext cx="8514600" cy="3169920"/>
        </p:xfrm>
        <a:graphic>
          <a:graphicData uri="http://schemas.openxmlformats.org/drawingml/2006/table">
            <a:tbl>
              <a:tblPr firstRow="1" bandRow="1">
                <a:tableStyleId>{F243F2E9-EE5A-4B70-8657-BDC805B4E44C}</a:tableStyleId>
              </a:tblPr>
              <a:tblGrid>
                <a:gridCol w="1702920">
                  <a:extLst>
                    <a:ext uri="{9D8B030D-6E8A-4147-A177-3AD203B41FA5}">
                      <a16:colId xmlns:a16="http://schemas.microsoft.com/office/drawing/2014/main" val="7957856"/>
                    </a:ext>
                  </a:extLst>
                </a:gridCol>
                <a:gridCol w="1702920">
                  <a:extLst>
                    <a:ext uri="{9D8B030D-6E8A-4147-A177-3AD203B41FA5}">
                      <a16:colId xmlns:a16="http://schemas.microsoft.com/office/drawing/2014/main" val="1475124062"/>
                    </a:ext>
                  </a:extLst>
                </a:gridCol>
                <a:gridCol w="1702920">
                  <a:extLst>
                    <a:ext uri="{9D8B030D-6E8A-4147-A177-3AD203B41FA5}">
                      <a16:colId xmlns:a16="http://schemas.microsoft.com/office/drawing/2014/main" val="863294825"/>
                    </a:ext>
                  </a:extLst>
                </a:gridCol>
                <a:gridCol w="1702920">
                  <a:extLst>
                    <a:ext uri="{9D8B030D-6E8A-4147-A177-3AD203B41FA5}">
                      <a16:colId xmlns:a16="http://schemas.microsoft.com/office/drawing/2014/main" val="1443016446"/>
                    </a:ext>
                  </a:extLst>
                </a:gridCol>
                <a:gridCol w="1702920">
                  <a:extLst>
                    <a:ext uri="{9D8B030D-6E8A-4147-A177-3AD203B41FA5}">
                      <a16:colId xmlns:a16="http://schemas.microsoft.com/office/drawing/2014/main" val="3890604555"/>
                    </a:ext>
                  </a:extLst>
                </a:gridCol>
              </a:tblGrid>
              <a:tr h="270765">
                <a:tc>
                  <a:txBody>
                    <a:bodyPr/>
                    <a:lstStyle/>
                    <a:p>
                      <a:r>
                        <a:rPr lang="en-US" dirty="0"/>
                        <a:t>Title</a:t>
                      </a:r>
                      <a:endParaRPr lang="en-IN" dirty="0"/>
                    </a:p>
                  </a:txBody>
                  <a:tcPr/>
                </a:tc>
                <a:tc>
                  <a:txBody>
                    <a:bodyPr/>
                    <a:lstStyle/>
                    <a:p>
                      <a:r>
                        <a:rPr lang="en-US" dirty="0"/>
                        <a:t>Author</a:t>
                      </a:r>
                      <a:endParaRPr lang="en-IN" dirty="0"/>
                    </a:p>
                  </a:txBody>
                  <a:tcPr/>
                </a:tc>
                <a:tc>
                  <a:txBody>
                    <a:bodyPr/>
                    <a:lstStyle/>
                    <a:p>
                      <a:r>
                        <a:rPr lang="en-US" dirty="0"/>
                        <a:t>Description</a:t>
                      </a:r>
                      <a:endParaRPr lang="en-IN" dirty="0"/>
                    </a:p>
                  </a:txBody>
                  <a:tcPr/>
                </a:tc>
                <a:tc>
                  <a:txBody>
                    <a:bodyPr/>
                    <a:lstStyle/>
                    <a:p>
                      <a:r>
                        <a:rPr lang="en-US" dirty="0"/>
                        <a:t>Pros</a:t>
                      </a:r>
                      <a:endParaRPr lang="en-IN" dirty="0"/>
                    </a:p>
                  </a:txBody>
                  <a:tcPr/>
                </a:tc>
                <a:tc>
                  <a:txBody>
                    <a:bodyPr/>
                    <a:lstStyle/>
                    <a:p>
                      <a:r>
                        <a:rPr lang="en-US" dirty="0"/>
                        <a:t>Cons</a:t>
                      </a:r>
                      <a:endParaRPr lang="en-IN" dirty="0"/>
                    </a:p>
                  </a:txBody>
                  <a:tcPr/>
                </a:tc>
                <a:extLst>
                  <a:ext uri="{0D108BD9-81ED-4DB2-BD59-A6C34878D82A}">
                    <a16:rowId xmlns:a16="http://schemas.microsoft.com/office/drawing/2014/main" val="3938616995"/>
                  </a:ext>
                </a:extLst>
              </a:tr>
              <a:tr h="254519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A Machine Learning Approach for Loan Default Prediction </a:t>
                      </a:r>
                      <a:r>
                        <a:rPr lang="en-US" sz="1400" dirty="0">
                          <a:latin typeface="Times New Roman" panose="02020603050405020304" pitchFamily="18" charset="0"/>
                          <a:cs typeface="Times New Roman" panose="02020603050405020304" pitchFamily="18" charset="0"/>
                          <a:hlinkClick r:id="rId4" action="ppaction://hlinksldjump"/>
                        </a:rPr>
                        <a:t>[1]</a:t>
                      </a:r>
                      <a:r>
                        <a:rPr lang="en-IN" sz="1400"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i-FI" sz="1400" dirty="0">
                          <a:latin typeface="Times New Roman" panose="02020603050405020304" pitchFamily="18" charset="0"/>
                          <a:cs typeface="Times New Roman" panose="02020603050405020304" pitchFamily="18" charset="0"/>
                        </a:rPr>
                        <a:t>H. Abedin, M. Rahman, &amp; S. Hossain. (2025)</a:t>
                      </a:r>
                      <a:endParaRPr lang="en-US" sz="14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This study applies machine learning techniques to analyze borrower financial data and predict loan default risk to support better credit decision-making.</a:t>
                      </a:r>
                    </a:p>
                    <a:p>
                      <a:endParaRPr lang="en-IN" dirty="0"/>
                    </a:p>
                  </a:txBody>
                  <a:tcPr/>
                </a:tc>
                <a:tc>
                  <a:txBody>
                    <a:bodyPr/>
                    <a:lstStyle/>
                    <a:p>
                      <a:r>
                        <a:rPr lang="en-US" dirty="0">
                          <a:latin typeface="Times New Roman" panose="02020603050405020304" pitchFamily="18" charset="0"/>
                          <a:cs typeface="Times New Roman" panose="02020603050405020304" pitchFamily="18" charset="0"/>
                        </a:rPr>
                        <a:t>This paper improves loan default prediction using machine learning, offering higher accuracy and better risk assessment compared to traditional methods. It also supports data-driven decision-making for financial institutions</a:t>
                      </a:r>
                      <a:r>
                        <a:rPr lang="en-US" dirty="0"/>
                        <a:t>.</a:t>
                      </a:r>
                      <a:endParaRPr lang="en-IN" dirty="0"/>
                    </a:p>
                  </a:txBody>
                  <a:tcPr/>
                </a:tc>
                <a:tc>
                  <a:txBody>
                    <a:bodyPr/>
                    <a:lstStyle/>
                    <a:p>
                      <a:r>
                        <a:rPr lang="en-US" dirty="0">
                          <a:latin typeface="Times New Roman" panose="02020603050405020304" pitchFamily="18" charset="0"/>
                          <a:cs typeface="Times New Roman" panose="02020603050405020304" pitchFamily="18" charset="0"/>
                        </a:rPr>
                        <a:t>However, the models may suffer from data imbalance and lack interpretability, making them harder to apply in real-world banking systems. Additionally, performance depends heavily on data quality and preprocessing.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2792107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D5112C-3F5E-3163-F943-463FE6EEA8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graphicFrame>
        <p:nvGraphicFramePr>
          <p:cNvPr id="3" name="Table 2">
            <a:extLst>
              <a:ext uri="{FF2B5EF4-FFF2-40B4-BE49-F238E27FC236}">
                <a16:creationId xmlns:a16="http://schemas.microsoft.com/office/drawing/2014/main" id="{63DF6B6C-89C2-45FD-CD98-F208C95A9AA3}"/>
              </a:ext>
            </a:extLst>
          </p:cNvPr>
          <p:cNvGraphicFramePr>
            <a:graphicFrameLocks noGrp="1"/>
          </p:cNvGraphicFramePr>
          <p:nvPr/>
        </p:nvGraphicFramePr>
        <p:xfrm>
          <a:off x="311427" y="133350"/>
          <a:ext cx="8152595" cy="2438400"/>
        </p:xfrm>
        <a:graphic>
          <a:graphicData uri="http://schemas.openxmlformats.org/drawingml/2006/table">
            <a:tbl>
              <a:tblPr firstRow="1" bandRow="1">
                <a:tableStyleId>{F243F2E9-EE5A-4B70-8657-BDC805B4E44C}</a:tableStyleId>
              </a:tblPr>
              <a:tblGrid>
                <a:gridCol w="1630519">
                  <a:extLst>
                    <a:ext uri="{9D8B030D-6E8A-4147-A177-3AD203B41FA5}">
                      <a16:colId xmlns:a16="http://schemas.microsoft.com/office/drawing/2014/main" val="1282194361"/>
                    </a:ext>
                  </a:extLst>
                </a:gridCol>
                <a:gridCol w="1630519">
                  <a:extLst>
                    <a:ext uri="{9D8B030D-6E8A-4147-A177-3AD203B41FA5}">
                      <a16:colId xmlns:a16="http://schemas.microsoft.com/office/drawing/2014/main" val="2255105888"/>
                    </a:ext>
                  </a:extLst>
                </a:gridCol>
                <a:gridCol w="1630519">
                  <a:extLst>
                    <a:ext uri="{9D8B030D-6E8A-4147-A177-3AD203B41FA5}">
                      <a16:colId xmlns:a16="http://schemas.microsoft.com/office/drawing/2014/main" val="3024498474"/>
                    </a:ext>
                  </a:extLst>
                </a:gridCol>
                <a:gridCol w="1630519">
                  <a:extLst>
                    <a:ext uri="{9D8B030D-6E8A-4147-A177-3AD203B41FA5}">
                      <a16:colId xmlns:a16="http://schemas.microsoft.com/office/drawing/2014/main" val="3751378055"/>
                    </a:ext>
                  </a:extLst>
                </a:gridCol>
                <a:gridCol w="1630519">
                  <a:extLst>
                    <a:ext uri="{9D8B030D-6E8A-4147-A177-3AD203B41FA5}">
                      <a16:colId xmlns:a16="http://schemas.microsoft.com/office/drawing/2014/main" val="1691463227"/>
                    </a:ext>
                  </a:extLst>
                </a:gridCol>
              </a:tblGrid>
              <a:tr h="229621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Loan Default Prediction Using Machine Learning Algorithms. </a:t>
                      </a:r>
                      <a:r>
                        <a:rPr lang="en-US" sz="1400" dirty="0">
                          <a:latin typeface="Times New Roman" panose="02020603050405020304" pitchFamily="18" charset="0"/>
                          <a:cs typeface="Times New Roman" panose="02020603050405020304" pitchFamily="18" charset="0"/>
                          <a:hlinkClick r:id="rId2" action="ppaction://hlinksldjump"/>
                        </a:rPr>
                        <a:t>[2]</a:t>
                      </a:r>
                      <a:endParaRPr lang="en-US" sz="1400"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A.S. Reddy, K.V.N. Sunitha &amp; P. Ramesh. (2025)</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This paper analyzes different machine learning algorithms to predict loan defaults using borrower financial data and compares their performance to improve credit risk prediction.</a:t>
                      </a:r>
                    </a:p>
                    <a:p>
                      <a:endParaRPr lang="en-IN" dirty="0"/>
                    </a:p>
                  </a:txBody>
                  <a:tcPr/>
                </a:tc>
                <a:tc>
                  <a:txBody>
                    <a:bodyPr/>
                    <a:lstStyle/>
                    <a:p>
                      <a:r>
                        <a:rPr lang="en-US" dirty="0">
                          <a:latin typeface="Times New Roman" panose="02020603050405020304" pitchFamily="18" charset="0"/>
                          <a:cs typeface="Times New Roman" panose="02020603050405020304" pitchFamily="18" charset="0"/>
                        </a:rPr>
                        <a:t>This paper uses multiple machine learning algorithms to improve loan default prediction accuracy and compares their performance to select the best model</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However, it may face issues like data imbalance and overfitting, and the models require proper preprocessing and tuning..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15627028"/>
                  </a:ext>
                </a:extLst>
              </a:tr>
            </a:tbl>
          </a:graphicData>
        </a:graphic>
      </p:graphicFrame>
      <p:graphicFrame>
        <p:nvGraphicFramePr>
          <p:cNvPr id="4" name="Table 3">
            <a:extLst>
              <a:ext uri="{FF2B5EF4-FFF2-40B4-BE49-F238E27FC236}">
                <a16:creationId xmlns:a16="http://schemas.microsoft.com/office/drawing/2014/main" id="{E4184DF8-2904-9379-150B-714C7EEA1A08}"/>
              </a:ext>
            </a:extLst>
          </p:cNvPr>
          <p:cNvGraphicFramePr>
            <a:graphicFrameLocks noGrp="1"/>
          </p:cNvGraphicFramePr>
          <p:nvPr/>
        </p:nvGraphicFramePr>
        <p:xfrm>
          <a:off x="311427" y="2571750"/>
          <a:ext cx="8152595" cy="2438400"/>
        </p:xfrm>
        <a:graphic>
          <a:graphicData uri="http://schemas.openxmlformats.org/drawingml/2006/table">
            <a:tbl>
              <a:tblPr firstRow="1" bandRow="1">
                <a:tableStyleId>{F243F2E9-EE5A-4B70-8657-BDC805B4E44C}</a:tableStyleId>
              </a:tblPr>
              <a:tblGrid>
                <a:gridCol w="1630519">
                  <a:extLst>
                    <a:ext uri="{9D8B030D-6E8A-4147-A177-3AD203B41FA5}">
                      <a16:colId xmlns:a16="http://schemas.microsoft.com/office/drawing/2014/main" val="2022054661"/>
                    </a:ext>
                  </a:extLst>
                </a:gridCol>
                <a:gridCol w="1630519">
                  <a:extLst>
                    <a:ext uri="{9D8B030D-6E8A-4147-A177-3AD203B41FA5}">
                      <a16:colId xmlns:a16="http://schemas.microsoft.com/office/drawing/2014/main" val="3170720867"/>
                    </a:ext>
                  </a:extLst>
                </a:gridCol>
                <a:gridCol w="1630519">
                  <a:extLst>
                    <a:ext uri="{9D8B030D-6E8A-4147-A177-3AD203B41FA5}">
                      <a16:colId xmlns:a16="http://schemas.microsoft.com/office/drawing/2014/main" val="2096955292"/>
                    </a:ext>
                  </a:extLst>
                </a:gridCol>
                <a:gridCol w="1630519">
                  <a:extLst>
                    <a:ext uri="{9D8B030D-6E8A-4147-A177-3AD203B41FA5}">
                      <a16:colId xmlns:a16="http://schemas.microsoft.com/office/drawing/2014/main" val="1918864104"/>
                    </a:ext>
                  </a:extLst>
                </a:gridCol>
                <a:gridCol w="1630519">
                  <a:extLst>
                    <a:ext uri="{9D8B030D-6E8A-4147-A177-3AD203B41FA5}">
                      <a16:colId xmlns:a16="http://schemas.microsoft.com/office/drawing/2014/main" val="2033682268"/>
                    </a:ext>
                  </a:extLst>
                </a:gridCol>
              </a:tblGrid>
              <a:tr h="7109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Explainable Prediction of Loan Default Based on Machine Learning Models. </a:t>
                      </a:r>
                      <a:r>
                        <a:rPr lang="en-US" sz="1400" u="none" dirty="0">
                          <a:latin typeface="Times New Roman" panose="02020603050405020304" pitchFamily="18" charset="0"/>
                          <a:cs typeface="Times New Roman" panose="02020603050405020304" pitchFamily="18" charset="0"/>
                          <a:hlinkClick r:id="rId2" action="ppaction://hlinksldjump"/>
                        </a:rPr>
                        <a:t>[3]</a:t>
                      </a:r>
                      <a:r>
                        <a:rPr lang="en-US" sz="1400" u="none" dirty="0">
                          <a:latin typeface="Times New Roman" panose="02020603050405020304" pitchFamily="18" charset="0"/>
                          <a:cs typeface="Times New Roman" panose="02020603050405020304" pitchFamily="18" charset="0"/>
                        </a:rPr>
                        <a:t>.</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Xu Zhu, </a:t>
                      </a:r>
                      <a:r>
                        <a:rPr lang="en-US" sz="1400" dirty="0" err="1">
                          <a:latin typeface="Times New Roman" panose="02020603050405020304" pitchFamily="18" charset="0"/>
                          <a:cs typeface="Times New Roman" panose="02020603050405020304" pitchFamily="18" charset="0"/>
                        </a:rPr>
                        <a:t>Qingyong</a:t>
                      </a:r>
                      <a:r>
                        <a:rPr lang="en-US" sz="1400" dirty="0">
                          <a:latin typeface="Times New Roman" panose="02020603050405020304" pitchFamily="18" charset="0"/>
                          <a:cs typeface="Times New Roman" panose="02020603050405020304" pitchFamily="18" charset="0"/>
                        </a:rPr>
                        <a:t> Chu, </a:t>
                      </a:r>
                      <a:r>
                        <a:rPr lang="en-US" sz="1400" dirty="0" err="1">
                          <a:latin typeface="Times New Roman" panose="02020603050405020304" pitchFamily="18" charset="0"/>
                          <a:cs typeface="Times New Roman" panose="02020603050405020304" pitchFamily="18" charset="0"/>
                        </a:rPr>
                        <a:t>Xinchang</a:t>
                      </a:r>
                      <a:r>
                        <a:rPr lang="en-US" sz="1400" dirty="0">
                          <a:latin typeface="Times New Roman" panose="02020603050405020304" pitchFamily="18" charset="0"/>
                          <a:cs typeface="Times New Roman" panose="02020603050405020304" pitchFamily="18" charset="0"/>
                        </a:rPr>
                        <a:t> Song, Ping Hu, and Lu Peng. (2023)</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cs typeface="Times New Roman" panose="02020603050405020304" pitchFamily="18" charset="0"/>
                        </a:rPr>
                        <a:t>This paper uses machine learning models to predict loan default and applies explainable AI techniques to understand the important factors influencing the predictions.</a:t>
                      </a:r>
                    </a:p>
                    <a:p>
                      <a:endParaRPr lang="en-IN" dirty="0"/>
                    </a:p>
                  </a:txBody>
                  <a:tcPr/>
                </a:tc>
                <a:tc>
                  <a:txBody>
                    <a:bodyPr/>
                    <a:lstStyle/>
                    <a:p>
                      <a:r>
                        <a:rPr lang="en-US" dirty="0">
                          <a:latin typeface="Times New Roman" panose="02020603050405020304" pitchFamily="18" charset="0"/>
                          <a:cs typeface="Times New Roman" panose="02020603050405020304" pitchFamily="18" charset="0"/>
                        </a:rPr>
                        <a:t>Accurately predicts loan defaults using machine learning and improves transparency with explainable AI techniques.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Models can be complex to interpret and depend heavily on data quality and preprocessing.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53754931"/>
                  </a:ext>
                </a:extLst>
              </a:tr>
            </a:tbl>
          </a:graphicData>
        </a:graphic>
      </p:graphicFrame>
    </p:spTree>
    <p:extLst>
      <p:ext uri="{BB962C8B-B14F-4D97-AF65-F5344CB8AC3E}">
        <p14:creationId xmlns:p14="http://schemas.microsoft.com/office/powerpoint/2010/main" val="3921453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g3bb61f4e995_0_85"/>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126" name="Google Shape;126;g3bb61f4e995_0_85"/>
          <p:cNvSpPr txBox="1"/>
          <p:nvPr/>
        </p:nvSpPr>
        <p:spPr>
          <a:xfrm>
            <a:off x="811975" y="318213"/>
            <a:ext cx="7160400" cy="949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Proposed Solution</a:t>
            </a:r>
            <a:endParaRPr sz="3100" b="1" i="0" u="none" strike="noStrike" cap="none" dirty="0">
              <a:solidFill>
                <a:srgbClr val="09134D"/>
              </a:solidFill>
              <a:latin typeface="Helvetica Neue"/>
              <a:ea typeface="Helvetica Neue"/>
              <a:cs typeface="Helvetica Neue"/>
              <a:sym typeface="Helvetica Neue"/>
            </a:endParaRPr>
          </a:p>
        </p:txBody>
      </p:sp>
      <p:sp>
        <p:nvSpPr>
          <p:cNvPr id="127" name="Google Shape;127;g3bb61f4e995_0_85"/>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9</a:t>
            </a:fld>
            <a:endParaRPr/>
          </a:p>
        </p:txBody>
      </p:sp>
      <p:pic>
        <p:nvPicPr>
          <p:cNvPr id="3" name="Picture 2">
            <a:extLst>
              <a:ext uri="{FF2B5EF4-FFF2-40B4-BE49-F238E27FC236}">
                <a16:creationId xmlns:a16="http://schemas.microsoft.com/office/drawing/2014/main" id="{5017AE44-E493-3EDD-F3E7-63CBEFCA595D}"/>
              </a:ext>
            </a:extLst>
          </p:cNvPr>
          <p:cNvPicPr>
            <a:picLocks noChangeAspect="1"/>
          </p:cNvPicPr>
          <p:nvPr/>
        </p:nvPicPr>
        <p:blipFill>
          <a:blip r:embed="rId4"/>
          <a:stretch>
            <a:fillRect/>
          </a:stretch>
        </p:blipFill>
        <p:spPr>
          <a:xfrm>
            <a:off x="2749827" y="827851"/>
            <a:ext cx="2968486" cy="42289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g3bb61f4e995_0_94"/>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133" name="Google Shape;133;g3bb61f4e995_0_94"/>
          <p:cNvSpPr txBox="1"/>
          <p:nvPr/>
        </p:nvSpPr>
        <p:spPr>
          <a:xfrm>
            <a:off x="490330" y="497475"/>
            <a:ext cx="7548305" cy="119880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i="0" u="none" strike="noStrike" cap="none" dirty="0">
                <a:solidFill>
                  <a:srgbClr val="09134D"/>
                </a:solidFill>
                <a:latin typeface="Helvetica Neue"/>
                <a:ea typeface="Helvetica Neue"/>
                <a:cs typeface="Helvetica Neue"/>
                <a:sym typeface="Helvetica Neue"/>
              </a:rPr>
              <a:t> Installation &amp; System Overview (Basic Diagram)Configuration</a:t>
            </a:r>
          </a:p>
          <a:p>
            <a:pPr lvl="0">
              <a:buSzPts val="3100"/>
            </a:pPr>
            <a:r>
              <a:rPr lang="en-GB" sz="3100" b="1" dirty="0">
                <a:solidFill>
                  <a:srgbClr val="09134D"/>
                </a:solidFill>
                <a:latin typeface="Helvetica Neue"/>
                <a:ea typeface="Helvetica Neue"/>
                <a:cs typeface="Helvetica Neue"/>
                <a:sym typeface="Helvetica Neue"/>
              </a:rPr>
              <a:t> </a:t>
            </a:r>
          </a:p>
          <a:p>
            <a:pPr lvl="0">
              <a:buSzPts val="3100"/>
            </a:pPr>
            <a:r>
              <a:rPr lang="en-GB" sz="3100" b="1" dirty="0">
                <a:solidFill>
                  <a:srgbClr val="09134D"/>
                </a:solidFill>
                <a:latin typeface="Helvetica Neue"/>
                <a:ea typeface="Helvetica Neue"/>
                <a:cs typeface="Helvetica Neue"/>
                <a:sym typeface="Helvetica Neue"/>
              </a:rPr>
              <a:t>  </a:t>
            </a:r>
          </a:p>
        </p:txBody>
      </p:sp>
      <p:sp>
        <p:nvSpPr>
          <p:cNvPr id="2" name="Title 1">
            <a:extLst>
              <a:ext uri="{FF2B5EF4-FFF2-40B4-BE49-F238E27FC236}">
                <a16:creationId xmlns:a16="http://schemas.microsoft.com/office/drawing/2014/main" id="{72847174-76A9-C139-6760-1B249C19B285}"/>
              </a:ext>
            </a:extLst>
          </p:cNvPr>
          <p:cNvSpPr>
            <a:spLocks noGrp="1"/>
          </p:cNvSpPr>
          <p:nvPr>
            <p:ph type="title"/>
          </p:nvPr>
        </p:nvSpPr>
        <p:spPr>
          <a:xfrm>
            <a:off x="583096" y="1647228"/>
            <a:ext cx="6367800" cy="2282042"/>
          </a:xfrm>
        </p:spPr>
        <p:txBody>
          <a:bodyPr>
            <a:normAutofit/>
          </a:bodyPr>
          <a:lstStyle/>
          <a:p>
            <a:r>
              <a:rPr lang="en-US" sz="1600" dirty="0">
                <a:latin typeface="Times New Roman" panose="02020603050405020304" pitchFamily="18" charset="0"/>
                <a:cs typeface="Times New Roman" panose="02020603050405020304" pitchFamily="18" charset="0"/>
              </a:rPr>
              <a:t>Programming </a:t>
            </a:r>
            <a:r>
              <a:rPr lang="en-US" sz="1600" dirty="0" err="1">
                <a:latin typeface="Times New Roman" panose="02020603050405020304" pitchFamily="18" charset="0"/>
                <a:cs typeface="Times New Roman" panose="02020603050405020304" pitchFamily="18" charset="0"/>
              </a:rPr>
              <a:t>Language:Python</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Frontend:HTML,CSS,Bootstrap</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Backend </a:t>
            </a:r>
            <a:r>
              <a:rPr lang="en-US" sz="1600" dirty="0" err="1">
                <a:latin typeface="Times New Roman" panose="02020603050405020304" pitchFamily="18" charset="0"/>
                <a:cs typeface="Times New Roman" panose="02020603050405020304" pitchFamily="18" charset="0"/>
              </a:rPr>
              <a:t>Framework:Flask</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Database:MySQL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Development </a:t>
            </a:r>
            <a:r>
              <a:rPr lang="en-US" sz="1600" dirty="0" err="1">
                <a:latin typeface="Times New Roman" panose="02020603050405020304" pitchFamily="18" charset="0"/>
                <a:cs typeface="Times New Roman" panose="02020603050405020304" pitchFamily="18" charset="0"/>
              </a:rPr>
              <a:t>Tools:VS</a:t>
            </a:r>
            <a:r>
              <a:rPr lang="en-US" sz="1600" dirty="0">
                <a:latin typeface="Times New Roman" panose="02020603050405020304" pitchFamily="18" charset="0"/>
                <a:cs typeface="Times New Roman" panose="02020603050405020304" pitchFamily="18" charset="0"/>
              </a:rPr>
              <a:t> Code</a:t>
            </a:r>
            <a:endParaRPr lang="en-IN" sz="1600" dirty="0">
              <a:latin typeface="Times New Roman" panose="02020603050405020304" pitchFamily="18" charset="0"/>
              <a:cs typeface="Times New Roman" panose="02020603050405020304" pitchFamily="18" charset="0"/>
            </a:endParaRPr>
          </a:p>
        </p:txBody>
      </p:sp>
      <p:sp>
        <p:nvSpPr>
          <p:cNvPr id="134" name="Google Shape;134;g3bb61f4e995_0_94"/>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39" name="Google Shape;139;g3bb61f4e995_0_114"/>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140" name="Google Shape;140;g3bb61f4e995_0_114"/>
          <p:cNvSpPr txBox="1"/>
          <p:nvPr/>
        </p:nvSpPr>
        <p:spPr>
          <a:xfrm>
            <a:off x="357726" y="221000"/>
            <a:ext cx="7160400" cy="949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Gantt Chart</a:t>
            </a:r>
            <a:endParaRPr sz="3100" b="1" i="0" u="none" strike="noStrike" cap="none" dirty="0">
              <a:solidFill>
                <a:srgbClr val="09134D"/>
              </a:solidFill>
              <a:latin typeface="Helvetica Neue"/>
              <a:ea typeface="Helvetica Neue"/>
              <a:cs typeface="Helvetica Neue"/>
              <a:sym typeface="Helvetica Neue"/>
            </a:endParaRPr>
          </a:p>
        </p:txBody>
      </p:sp>
      <p:sp>
        <p:nvSpPr>
          <p:cNvPr id="141" name="Google Shape;141;g3bb61f4e995_0_114"/>
          <p:cNvSpPr txBox="1">
            <a:spLocks noGrp="1"/>
          </p:cNvSpPr>
          <p:nvPr>
            <p:ph type="sldNum" idx="12"/>
          </p:nvPr>
        </p:nvSpPr>
        <p:spPr>
          <a:xfrm>
            <a:off x="7181307" y="4663225"/>
            <a:ext cx="18399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11</a:t>
            </a:fld>
            <a:endParaRPr/>
          </a:p>
        </p:txBody>
      </p:sp>
      <p:graphicFrame>
        <p:nvGraphicFramePr>
          <p:cNvPr id="142" name="Google Shape;142;g3bb61f4e995_0_114"/>
          <p:cNvGraphicFramePr/>
          <p:nvPr>
            <p:extLst>
              <p:ext uri="{D42A27DB-BD31-4B8C-83A1-F6EECF244321}">
                <p14:modId xmlns:p14="http://schemas.microsoft.com/office/powerpoint/2010/main" val="3391129352"/>
              </p:ext>
            </p:extLst>
          </p:nvPr>
        </p:nvGraphicFramePr>
        <p:xfrm>
          <a:off x="59635" y="1001871"/>
          <a:ext cx="9084372" cy="3977958"/>
        </p:xfrm>
        <a:graphic>
          <a:graphicData uri="http://schemas.openxmlformats.org/drawingml/2006/table">
            <a:tbl>
              <a:tblPr>
                <a:noFill/>
                <a:tableStyleId>{F243F2E9-EE5A-4B70-8657-BDC805B4E44C}</a:tableStyleId>
              </a:tblPr>
              <a:tblGrid>
                <a:gridCol w="748748">
                  <a:extLst>
                    <a:ext uri="{9D8B030D-6E8A-4147-A177-3AD203B41FA5}">
                      <a16:colId xmlns:a16="http://schemas.microsoft.com/office/drawing/2014/main" val="20000"/>
                    </a:ext>
                  </a:extLst>
                </a:gridCol>
                <a:gridCol w="395059">
                  <a:extLst>
                    <a:ext uri="{9D8B030D-6E8A-4147-A177-3AD203B41FA5}">
                      <a16:colId xmlns:a16="http://schemas.microsoft.com/office/drawing/2014/main" val="20001"/>
                    </a:ext>
                  </a:extLst>
                </a:gridCol>
                <a:gridCol w="529371">
                  <a:extLst>
                    <a:ext uri="{9D8B030D-6E8A-4147-A177-3AD203B41FA5}">
                      <a16:colId xmlns:a16="http://schemas.microsoft.com/office/drawing/2014/main" val="20002"/>
                    </a:ext>
                  </a:extLst>
                </a:gridCol>
                <a:gridCol w="529371">
                  <a:extLst>
                    <a:ext uri="{9D8B030D-6E8A-4147-A177-3AD203B41FA5}">
                      <a16:colId xmlns:a16="http://schemas.microsoft.com/office/drawing/2014/main" val="20003"/>
                    </a:ext>
                  </a:extLst>
                </a:gridCol>
                <a:gridCol w="529371">
                  <a:extLst>
                    <a:ext uri="{9D8B030D-6E8A-4147-A177-3AD203B41FA5}">
                      <a16:colId xmlns:a16="http://schemas.microsoft.com/office/drawing/2014/main" val="20004"/>
                    </a:ext>
                  </a:extLst>
                </a:gridCol>
                <a:gridCol w="529371">
                  <a:extLst>
                    <a:ext uri="{9D8B030D-6E8A-4147-A177-3AD203B41FA5}">
                      <a16:colId xmlns:a16="http://schemas.microsoft.com/office/drawing/2014/main" val="20005"/>
                    </a:ext>
                  </a:extLst>
                </a:gridCol>
                <a:gridCol w="529371">
                  <a:extLst>
                    <a:ext uri="{9D8B030D-6E8A-4147-A177-3AD203B41FA5}">
                      <a16:colId xmlns:a16="http://schemas.microsoft.com/office/drawing/2014/main" val="20006"/>
                    </a:ext>
                  </a:extLst>
                </a:gridCol>
                <a:gridCol w="529371">
                  <a:extLst>
                    <a:ext uri="{9D8B030D-6E8A-4147-A177-3AD203B41FA5}">
                      <a16:colId xmlns:a16="http://schemas.microsoft.com/office/drawing/2014/main" val="20007"/>
                    </a:ext>
                  </a:extLst>
                </a:gridCol>
                <a:gridCol w="529371">
                  <a:extLst>
                    <a:ext uri="{9D8B030D-6E8A-4147-A177-3AD203B41FA5}">
                      <a16:colId xmlns:a16="http://schemas.microsoft.com/office/drawing/2014/main" val="20008"/>
                    </a:ext>
                  </a:extLst>
                </a:gridCol>
                <a:gridCol w="529371">
                  <a:extLst>
                    <a:ext uri="{9D8B030D-6E8A-4147-A177-3AD203B41FA5}">
                      <a16:colId xmlns:a16="http://schemas.microsoft.com/office/drawing/2014/main" val="20009"/>
                    </a:ext>
                  </a:extLst>
                </a:gridCol>
                <a:gridCol w="529371">
                  <a:extLst>
                    <a:ext uri="{9D8B030D-6E8A-4147-A177-3AD203B41FA5}">
                      <a16:colId xmlns:a16="http://schemas.microsoft.com/office/drawing/2014/main" val="20010"/>
                    </a:ext>
                  </a:extLst>
                </a:gridCol>
                <a:gridCol w="529371">
                  <a:extLst>
                    <a:ext uri="{9D8B030D-6E8A-4147-A177-3AD203B41FA5}">
                      <a16:colId xmlns:a16="http://schemas.microsoft.com/office/drawing/2014/main" val="20011"/>
                    </a:ext>
                  </a:extLst>
                </a:gridCol>
                <a:gridCol w="529371">
                  <a:extLst>
                    <a:ext uri="{9D8B030D-6E8A-4147-A177-3AD203B41FA5}">
                      <a16:colId xmlns:a16="http://schemas.microsoft.com/office/drawing/2014/main" val="20012"/>
                    </a:ext>
                  </a:extLst>
                </a:gridCol>
                <a:gridCol w="529371">
                  <a:extLst>
                    <a:ext uri="{9D8B030D-6E8A-4147-A177-3AD203B41FA5}">
                      <a16:colId xmlns:a16="http://schemas.microsoft.com/office/drawing/2014/main" val="20013"/>
                    </a:ext>
                  </a:extLst>
                </a:gridCol>
                <a:gridCol w="529371">
                  <a:extLst>
                    <a:ext uri="{9D8B030D-6E8A-4147-A177-3AD203B41FA5}">
                      <a16:colId xmlns:a16="http://schemas.microsoft.com/office/drawing/2014/main" val="20014"/>
                    </a:ext>
                  </a:extLst>
                </a:gridCol>
                <a:gridCol w="529371">
                  <a:extLst>
                    <a:ext uri="{9D8B030D-6E8A-4147-A177-3AD203B41FA5}">
                      <a16:colId xmlns:a16="http://schemas.microsoft.com/office/drawing/2014/main" val="20015"/>
                    </a:ext>
                  </a:extLst>
                </a:gridCol>
                <a:gridCol w="529371">
                  <a:extLst>
                    <a:ext uri="{9D8B030D-6E8A-4147-A177-3AD203B41FA5}">
                      <a16:colId xmlns:a16="http://schemas.microsoft.com/office/drawing/2014/main" val="20016"/>
                    </a:ext>
                  </a:extLst>
                </a:gridCol>
              </a:tblGrid>
              <a:tr h="366950">
                <a:tc>
                  <a:txBody>
                    <a:bodyPr/>
                    <a:lstStyle/>
                    <a:p>
                      <a:pPr marL="0" lvl="0" indent="0" algn="ctr" rtl="0">
                        <a:lnSpc>
                          <a:spcPct val="115000"/>
                        </a:lnSpc>
                        <a:spcBef>
                          <a:spcPts val="0"/>
                        </a:spcBef>
                        <a:spcAft>
                          <a:spcPts val="0"/>
                        </a:spcAft>
                        <a:buNone/>
                      </a:pPr>
                      <a:r>
                        <a:rPr lang="en-GB" sz="1000" b="1"/>
                        <a:t>Project Details</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1</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2</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3</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4</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5</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6</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7</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8</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dirty="0"/>
                        <a:t>Week 9</a:t>
                      </a:r>
                      <a:endParaRPr sz="1000" b="1" dirty="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10</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11</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12</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13</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14</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15</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sz="1000" b="1"/>
                        <a:t>Week 16</a:t>
                      </a:r>
                      <a:endParaRPr sz="1000" b="1"/>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42175">
                <a:tc>
                  <a:txBody>
                    <a:bodyPr/>
                    <a:lstStyle/>
                    <a:p>
                      <a:pPr marL="0" lvl="0" indent="0" algn="l" rtl="0">
                        <a:spcBef>
                          <a:spcPts val="0"/>
                        </a:spcBef>
                        <a:spcAft>
                          <a:spcPts val="0"/>
                        </a:spcAft>
                        <a:buNone/>
                      </a:pPr>
                      <a:r>
                        <a:rPr lang="en-US" sz="900" dirty="0">
                          <a:latin typeface="Times New Roman" panose="02020603050405020304" pitchFamily="18" charset="0"/>
                          <a:cs typeface="Times New Roman" panose="02020603050405020304" pitchFamily="18" charset="0"/>
                        </a:rPr>
                        <a:t>Problem Analysis</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34A853"/>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34A853"/>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42175">
                <a:tc>
                  <a:txBody>
                    <a:bodyPr/>
                    <a:lstStyle/>
                    <a:p>
                      <a:pPr marL="0" lvl="0" indent="0" algn="l" rtl="0">
                        <a:spcBef>
                          <a:spcPts val="0"/>
                        </a:spcBef>
                        <a:spcAft>
                          <a:spcPts val="0"/>
                        </a:spcAft>
                        <a:buNone/>
                      </a:pPr>
                      <a:r>
                        <a:rPr lang="en-US" sz="900" dirty="0">
                          <a:latin typeface="Times New Roman" panose="02020603050405020304" pitchFamily="18" charset="0"/>
                          <a:cs typeface="Times New Roman" panose="02020603050405020304" pitchFamily="18" charset="0"/>
                        </a:rPr>
                        <a:t>Literature Survey</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FF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42175">
                <a:tc>
                  <a:txBody>
                    <a:bodyPr/>
                    <a:lstStyle/>
                    <a:p>
                      <a:pPr marL="0" lvl="0" indent="0" algn="l" rtl="0">
                        <a:spcBef>
                          <a:spcPts val="0"/>
                        </a:spcBef>
                        <a:spcAft>
                          <a:spcPts val="0"/>
                        </a:spcAft>
                        <a:buNone/>
                      </a:pPr>
                      <a:r>
                        <a:rPr lang="en-US" sz="900" dirty="0">
                          <a:latin typeface="Times New Roman" panose="02020603050405020304" pitchFamily="18" charset="0"/>
                          <a:cs typeface="Times New Roman" panose="02020603050405020304" pitchFamily="18" charset="0"/>
                        </a:rPr>
                        <a:t>Requirement </a:t>
                      </a:r>
                      <a:r>
                        <a:rPr lang="en-US" sz="900" dirty="0" err="1">
                          <a:latin typeface="Times New Roman" panose="02020603050405020304" pitchFamily="18" charset="0"/>
                          <a:cs typeface="Times New Roman" panose="02020603050405020304" pitchFamily="18" charset="0"/>
                        </a:rPr>
                        <a:t>Anlaysis</a:t>
                      </a:r>
                      <a:endParaRPr lang="en-US"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FF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FF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42175">
                <a:tc>
                  <a:txBody>
                    <a:bodyPr/>
                    <a:lstStyle/>
                    <a:p>
                      <a:pPr marL="0" lvl="0" indent="0" algn="l" rtl="0">
                        <a:spcBef>
                          <a:spcPts val="0"/>
                        </a:spcBef>
                        <a:spcAft>
                          <a:spcPts val="0"/>
                        </a:spcAft>
                        <a:buNone/>
                      </a:pPr>
                      <a:r>
                        <a:rPr lang="en-US" sz="900" dirty="0">
                          <a:latin typeface="Times New Roman" panose="02020603050405020304" pitchFamily="18" charset="0"/>
                          <a:cs typeface="Times New Roman" panose="02020603050405020304" pitchFamily="18" charset="0"/>
                        </a:rPr>
                        <a:t>System Design</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42175">
                <a:tc>
                  <a:txBody>
                    <a:bodyPr/>
                    <a:lstStyle/>
                    <a:p>
                      <a:pPr marL="0" lvl="0" indent="0" algn="l" rtl="0">
                        <a:spcBef>
                          <a:spcPts val="0"/>
                        </a:spcBef>
                        <a:spcAft>
                          <a:spcPts val="0"/>
                        </a:spcAft>
                        <a:buNone/>
                      </a:pPr>
                      <a:r>
                        <a:rPr lang="en-US" sz="900" dirty="0">
                          <a:latin typeface="Times New Roman" panose="02020603050405020304" pitchFamily="18" charset="0"/>
                          <a:cs typeface="Times New Roman" panose="02020603050405020304" pitchFamily="18" charset="0"/>
                        </a:rPr>
                        <a:t>Data Collection and Preparation</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34A853"/>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34A853"/>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34A853"/>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42175">
                <a:tc>
                  <a:txBody>
                    <a:bodyPr/>
                    <a:lstStyle/>
                    <a:p>
                      <a:pPr marL="0" lvl="0" indent="0" algn="l" rtl="0">
                        <a:spcBef>
                          <a:spcPts val="0"/>
                        </a:spcBef>
                        <a:spcAft>
                          <a:spcPts val="0"/>
                        </a:spcAft>
                        <a:buNone/>
                      </a:pPr>
                      <a:r>
                        <a:rPr lang="en-US" sz="900" dirty="0">
                          <a:latin typeface="Times New Roman" panose="02020603050405020304" pitchFamily="18" charset="0"/>
                          <a:cs typeface="Times New Roman" panose="02020603050405020304" pitchFamily="18" charset="0"/>
                        </a:rPr>
                        <a:t>ML model</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CC00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CC00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CC00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CC0000"/>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42175">
                <a:tc>
                  <a:txBody>
                    <a:bodyPr/>
                    <a:lstStyle/>
                    <a:p>
                      <a:pPr marL="0" lvl="0" indent="0" algn="l" rtl="0">
                        <a:spcBef>
                          <a:spcPts val="0"/>
                        </a:spcBef>
                        <a:spcAft>
                          <a:spcPts val="0"/>
                        </a:spcAft>
                        <a:buNone/>
                      </a:pPr>
                      <a:r>
                        <a:rPr lang="en-US" sz="900" dirty="0">
                          <a:latin typeface="Times New Roman" panose="02020603050405020304" pitchFamily="18" charset="0"/>
                          <a:cs typeface="Times New Roman" panose="02020603050405020304" pitchFamily="18" charset="0"/>
                        </a:rPr>
                        <a:t>Backend setup</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38761D"/>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38761D"/>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38761D"/>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42175">
                <a:tc>
                  <a:txBody>
                    <a:bodyPr/>
                    <a:lstStyle/>
                    <a:p>
                      <a:pPr marL="0" lvl="0" indent="0" algn="l" rtl="0">
                        <a:spcBef>
                          <a:spcPts val="0"/>
                        </a:spcBef>
                        <a:spcAft>
                          <a:spcPts val="0"/>
                        </a:spcAft>
                        <a:buNone/>
                      </a:pPr>
                      <a:r>
                        <a:rPr lang="en-US" sz="900" dirty="0">
                          <a:latin typeface="Times New Roman" panose="02020603050405020304" pitchFamily="18" charset="0"/>
                          <a:cs typeface="Times New Roman" panose="02020603050405020304" pitchFamily="18" charset="0"/>
                        </a:rPr>
                        <a:t>Frontend Development</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42175">
                <a:tc>
                  <a:txBody>
                    <a:bodyPr/>
                    <a:lstStyle/>
                    <a:p>
                      <a:pPr marL="0" lvl="0" indent="0" algn="l" rtl="0">
                        <a:spcBef>
                          <a:spcPts val="0"/>
                        </a:spcBef>
                        <a:spcAft>
                          <a:spcPts val="0"/>
                        </a:spcAft>
                        <a:buNone/>
                      </a:pPr>
                      <a:r>
                        <a:rPr lang="en-IN" sz="900" dirty="0">
                          <a:latin typeface="Times New Roman" panose="02020603050405020304" pitchFamily="18" charset="0"/>
                          <a:cs typeface="Times New Roman" panose="02020603050405020304" pitchFamily="18" charset="0"/>
                        </a:rPr>
                        <a:t>System integration and testing</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42175">
                <a:tc>
                  <a:txBody>
                    <a:bodyPr/>
                    <a:lstStyle/>
                    <a:p>
                      <a:pPr marL="0" lvl="0" indent="0" algn="l" rtl="0">
                        <a:spcBef>
                          <a:spcPts val="0"/>
                        </a:spcBef>
                        <a:spcAft>
                          <a:spcPts val="0"/>
                        </a:spcAft>
                        <a:buNone/>
                      </a:pPr>
                      <a:r>
                        <a:rPr lang="en-IN" sz="900" dirty="0">
                          <a:latin typeface="Times New Roman" panose="02020603050405020304" pitchFamily="18" charset="0"/>
                          <a:cs typeface="Times New Roman" panose="02020603050405020304" pitchFamily="18" charset="0"/>
                        </a:rPr>
                        <a:t>Documentation and final presentation</a:t>
                      </a:r>
                      <a:endParaRPr sz="900" dirty="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lnSpc>
                          <a:spcPct val="115000"/>
                        </a:lnSpc>
                        <a:spcBef>
                          <a:spcPts val="0"/>
                        </a:spcBef>
                        <a:spcAft>
                          <a:spcPts val="0"/>
                        </a:spcAft>
                        <a:buNone/>
                      </a:pPr>
                      <a:r>
                        <a:rPr lang="en-GB" sz="1000"/>
                        <a:t>■</a:t>
                      </a:r>
                      <a:endParaRPr sz="100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42175">
                <a:tc>
                  <a:txBody>
                    <a:bodyPr/>
                    <a:lstStyle/>
                    <a:p>
                      <a:pPr marL="0" lvl="0" indent="0" algn="l" rtl="0">
                        <a:spcBef>
                          <a:spcPts val="0"/>
                        </a:spcBef>
                        <a:spcAft>
                          <a:spcPts val="0"/>
                        </a:spcAft>
                        <a:buNone/>
                      </a:pPr>
                      <a:r>
                        <a:rPr lang="en-IN" sz="900">
                          <a:latin typeface="Times New Roman" panose="02020603050405020304" pitchFamily="18" charset="0"/>
                          <a:cs typeface="Times New Roman" panose="02020603050405020304" pitchFamily="18" charset="0"/>
                        </a:rPr>
                        <a:t>Report</a:t>
                      </a:r>
                      <a:endParaRPr sz="900">
                        <a:latin typeface="Times New Roman" panose="02020603050405020304" pitchFamily="18" charset="0"/>
                        <a:cs typeface="Times New Roman" panose="02020603050405020304" pitchFamily="18" charset="0"/>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GB" sz="1000" dirty="0"/>
                        <a:t>■</a:t>
                      </a:r>
                      <a:endParaRPr sz="1000" dirty="0"/>
                    </a:p>
                  </a:txBody>
                  <a:tcPr marL="28575" marR="28575" marT="19050" marB="19050" anchor="b">
                    <a:lnL w="10575" cap="flat" cmpd="sng">
                      <a:solidFill>
                        <a:srgbClr val="000000"/>
                      </a:solidFill>
                      <a:prstDash val="solid"/>
                      <a:round/>
                      <a:headEnd type="none" w="sm" len="sm"/>
                      <a:tailEnd type="none" w="sm" len="sm"/>
                    </a:lnL>
                    <a:lnR w="10575" cap="flat" cmpd="sng">
                      <a:solidFill>
                        <a:srgbClr val="000000"/>
                      </a:solidFill>
                      <a:prstDash val="solid"/>
                      <a:round/>
                      <a:headEnd type="none" w="sm" len="sm"/>
                      <a:tailEnd type="none" w="sm" len="sm"/>
                    </a:lnR>
                    <a:lnT w="10575" cap="flat" cmpd="sng">
                      <a:solidFill>
                        <a:srgbClr val="000000"/>
                      </a:solidFill>
                      <a:prstDash val="solid"/>
                      <a:round/>
                      <a:headEnd type="none" w="sm" len="sm"/>
                      <a:tailEnd type="none" w="sm" len="sm"/>
                    </a:lnT>
                    <a:lnB w="10575" cap="flat" cmpd="sng">
                      <a:solidFill>
                        <a:srgbClr val="000000"/>
                      </a:solidFill>
                      <a:prstDash val="solid"/>
                      <a:round/>
                      <a:headEnd type="none" w="sm" len="sm"/>
                      <a:tailEnd type="none" w="sm" len="sm"/>
                    </a:lnB>
                    <a:solidFill>
                      <a:srgbClr val="00FF0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bb61f4e995_0_124"/>
          <p:cNvPicPr preferRelativeResize="0"/>
          <p:nvPr/>
        </p:nvPicPr>
        <p:blipFill rotWithShape="1">
          <a:blip r:embed="rId3">
            <a:alphaModFix/>
          </a:blip>
          <a:srcRect l="7620" t="23175" r="65300" b="23164"/>
          <a:stretch/>
        </p:blipFill>
        <p:spPr>
          <a:xfrm>
            <a:off x="8200175" y="497475"/>
            <a:ext cx="586099" cy="396850"/>
          </a:xfrm>
          <a:prstGeom prst="rect">
            <a:avLst/>
          </a:prstGeom>
          <a:noFill/>
          <a:ln>
            <a:noFill/>
          </a:ln>
        </p:spPr>
      </p:pic>
      <p:sp>
        <p:nvSpPr>
          <p:cNvPr id="148" name="Google Shape;148;g3bb61f4e995_0_124"/>
          <p:cNvSpPr txBox="1"/>
          <p:nvPr/>
        </p:nvSpPr>
        <p:spPr>
          <a:xfrm>
            <a:off x="788425" y="419425"/>
            <a:ext cx="7160400" cy="949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100"/>
              <a:buFont typeface="Arial"/>
              <a:buNone/>
            </a:pPr>
            <a:r>
              <a:rPr lang="en-GB" sz="3100" b="1" dirty="0">
                <a:solidFill>
                  <a:srgbClr val="09134D"/>
                </a:solidFill>
                <a:latin typeface="Helvetica Neue"/>
                <a:ea typeface="Helvetica Neue"/>
                <a:cs typeface="Helvetica Neue"/>
                <a:sym typeface="Helvetica Neue"/>
              </a:rPr>
              <a:t>Expected Outcome</a:t>
            </a:r>
            <a:endParaRPr sz="3100" b="1" i="0" u="none" strike="noStrike" cap="none" dirty="0">
              <a:solidFill>
                <a:srgbClr val="09134D"/>
              </a:solidFill>
              <a:latin typeface="Helvetica Neue"/>
              <a:ea typeface="Helvetica Neue"/>
              <a:cs typeface="Helvetica Neue"/>
              <a:sym typeface="Helvetica Neue"/>
            </a:endParaRPr>
          </a:p>
        </p:txBody>
      </p:sp>
      <p:sp>
        <p:nvSpPr>
          <p:cNvPr id="4" name="Title 3">
            <a:extLst>
              <a:ext uri="{FF2B5EF4-FFF2-40B4-BE49-F238E27FC236}">
                <a16:creationId xmlns:a16="http://schemas.microsoft.com/office/drawing/2014/main" id="{857DD966-4E4E-E7D0-6CA3-CDF543B2F688}"/>
              </a:ext>
            </a:extLst>
          </p:cNvPr>
          <p:cNvSpPr>
            <a:spLocks noGrp="1"/>
          </p:cNvSpPr>
          <p:nvPr>
            <p:ph type="title"/>
          </p:nvPr>
        </p:nvSpPr>
        <p:spPr>
          <a:xfrm>
            <a:off x="735417" y="972375"/>
            <a:ext cx="6367800" cy="3226905"/>
          </a:xfrm>
        </p:spPr>
        <p:txBody>
          <a:bodyPr>
            <a:normAutofit/>
          </a:bodyPr>
          <a:lstStyle/>
          <a:p>
            <a:r>
              <a:rPr lang="en-US" sz="1600" dirty="0">
                <a:latin typeface="Times New Roman" panose="02020603050405020304" pitchFamily="18" charset="0"/>
                <a:cs typeface="Times New Roman" panose="02020603050405020304" pitchFamily="18" charset="0"/>
              </a:rPr>
              <a:t>Develop a machine learning model that predicts whether a borrower will default or repay a loan.</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Identify important financial features that influence credit risk and loan repayment behavior.</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Improve the accuracy of credit risk prediction using machine learning algorithms.</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Help financial institutions make better and faster lending decisions</a:t>
            </a:r>
            <a:r>
              <a:rPr lang="en-US" sz="18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
        <p:nvSpPr>
          <p:cNvPr id="149" name="Google Shape;149;g3bb61f4e995_0_124"/>
          <p:cNvSpPr txBox="1">
            <a:spLocks noGrp="1"/>
          </p:cNvSpPr>
          <p:nvPr>
            <p:ph type="sldNum" idx="12"/>
          </p:nvPr>
        </p:nvSpPr>
        <p:spPr>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GB"/>
              <a:t>12</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512</TotalTime>
  <Words>901</Words>
  <Application>Microsoft Office PowerPoint</Application>
  <PresentationFormat>On-screen Show (16:9)</PresentationFormat>
  <Paragraphs>159</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Helvetica Neue</vt:lpstr>
      <vt:lpstr>Arial</vt:lpstr>
      <vt:lpstr>Times New Roman</vt:lpstr>
      <vt:lpstr>Helvetica Neue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Programming Language:Python Frontend:HTML,CSS,Bootstrap Backend Framework:Flask Database:MySQL Development Tools:VS Code</vt:lpstr>
      <vt:lpstr>PowerPoint Presentation</vt:lpstr>
      <vt:lpstr>Develop a machine learning model that predicts whether a borrower will default or repay a loan.  Identify important financial features that influence credit risk and loan repayment behavior.  Improve the accuracy of credit risk prediction using machine learning algorithms.  Help financial institutions make better and faster lending decisions.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Sumaiya N.Sarwad</dc:creator>
  <cp:lastModifiedBy>Hemanth kumar S</cp:lastModifiedBy>
  <cp:revision>18</cp:revision>
  <dcterms:modified xsi:type="dcterms:W3CDTF">2026-03-30T15:54:45Z</dcterms:modified>
</cp:coreProperties>
</file>